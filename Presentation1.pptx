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58" r:id="rId4"/>
    <p:sldId id="259" r:id="rId5"/>
    <p:sldId id="262" r:id="rId6"/>
    <p:sldId id="263" r:id="rId7"/>
    <p:sldId id="270" r:id="rId8"/>
    <p:sldId id="271" r:id="rId9"/>
    <p:sldId id="267" r:id="rId10"/>
    <p:sldId id="272" r:id="rId11"/>
    <p:sldId id="268" r:id="rId12"/>
    <p:sldId id="269" r:id="rId13"/>
    <p:sldId id="273" r:id="rId14"/>
    <p:sldId id="275" r:id="rId15"/>
    <p:sldId id="274"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8E97-8D90-51E9-A79C-96F96D449D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28B582A-7997-B038-6D41-2F3738424D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0436FAC-F3C7-7C5F-E44B-A55E644890CE}"/>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5" name="Footer Placeholder 4">
            <a:extLst>
              <a:ext uri="{FF2B5EF4-FFF2-40B4-BE49-F238E27FC236}">
                <a16:creationId xmlns:a16="http://schemas.microsoft.com/office/drawing/2014/main" id="{52B9B31C-2B58-4D67-D2D6-E4753C31CB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7A4A12-8579-54B7-856C-C575C2950E45}"/>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1670357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9CCC-1DC6-A39F-B043-1E05E185AA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3A1F6C-877C-C900-5397-5891221A14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7F9E0A-B2C1-6E62-1E8D-9342EE63F402}"/>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5" name="Footer Placeholder 4">
            <a:extLst>
              <a:ext uri="{FF2B5EF4-FFF2-40B4-BE49-F238E27FC236}">
                <a16:creationId xmlns:a16="http://schemas.microsoft.com/office/drawing/2014/main" id="{4EF78A77-49E3-503E-F9BB-3928FC5B51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F1A2EA-DDE5-1B16-1D1A-1900F1498117}"/>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2552662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42652-32DC-0CF2-204D-A5C999C3CE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7C5948-559B-07CA-2A4B-AB4EBE4C83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E2D5ED-6545-1926-02B9-CA278B268E65}"/>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5" name="Footer Placeholder 4">
            <a:extLst>
              <a:ext uri="{FF2B5EF4-FFF2-40B4-BE49-F238E27FC236}">
                <a16:creationId xmlns:a16="http://schemas.microsoft.com/office/drawing/2014/main" id="{1093CC67-B28A-9540-1FF5-E9EA76EE64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36A10B-8A6F-3FEF-8D7A-26B4FE8DBA3D}"/>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2896895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ADC85-BCD5-DF31-E5D0-40E27A29B6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BB6A6B-1B86-76F2-4996-13FBED0BDD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236C0E-8A72-D87E-4C8B-69D07B1BA2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D4BD90-A5C5-9380-47EA-F079E8ACBB80}"/>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6" name="Footer Placeholder 5">
            <a:extLst>
              <a:ext uri="{FF2B5EF4-FFF2-40B4-BE49-F238E27FC236}">
                <a16:creationId xmlns:a16="http://schemas.microsoft.com/office/drawing/2014/main" id="{316707B0-AACC-C025-D519-4B6B6E5D49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CBC575-0A56-799E-57CA-D2C4F7B19859}"/>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932020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EC64C-8B89-417A-01DC-7FFE63CD08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2461FE-C494-A9F8-282F-9ED93ABA26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022D11-6480-CBA5-A05C-DE4949BCEC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1B5FF4-6DEE-5D42-6F4E-07F2D1A8B9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0BD8EF-2681-4D6D-33E7-B1861FD6E4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40F2129-8104-F72C-17E6-6370B8652B24}"/>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8" name="Footer Placeholder 7">
            <a:extLst>
              <a:ext uri="{FF2B5EF4-FFF2-40B4-BE49-F238E27FC236}">
                <a16:creationId xmlns:a16="http://schemas.microsoft.com/office/drawing/2014/main" id="{07CD61B3-365C-7031-BA51-0C46CECD70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B5B0EA-2E59-C966-9E24-2EE0D801FDC3}"/>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2443590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FB29C-0D80-FBAD-B4FC-DEE025E071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603BCF7-5B5F-391A-78E2-7578E383E5C3}"/>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4" name="Footer Placeholder 3">
            <a:extLst>
              <a:ext uri="{FF2B5EF4-FFF2-40B4-BE49-F238E27FC236}">
                <a16:creationId xmlns:a16="http://schemas.microsoft.com/office/drawing/2014/main" id="{C83320E5-D811-CE74-1049-77C58499609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11842F-2392-B0C8-A136-E1FB8C612E1C}"/>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1496769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FAB8D2-3A87-E616-C020-D4A5203EFDED}"/>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3" name="Footer Placeholder 2">
            <a:extLst>
              <a:ext uri="{FF2B5EF4-FFF2-40B4-BE49-F238E27FC236}">
                <a16:creationId xmlns:a16="http://schemas.microsoft.com/office/drawing/2014/main" id="{63272108-C69A-E7E0-EFF7-AF91CE6F3B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F9C468-B73E-34E7-E384-D371A1EE7B01}"/>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405907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B3721-DDCB-B4DC-2EF8-A25198349A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3F4CE6-12B1-5436-D61A-49D089111E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25F852-D638-A34C-8852-86A6FC9D39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121EDA-535E-14D6-782E-20F25F2C18AA}"/>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6" name="Footer Placeholder 5">
            <a:extLst>
              <a:ext uri="{FF2B5EF4-FFF2-40B4-BE49-F238E27FC236}">
                <a16:creationId xmlns:a16="http://schemas.microsoft.com/office/drawing/2014/main" id="{AC1AF729-67FC-360F-5B70-88B3F3D20A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CEF712-6296-658B-43C7-187CD5653519}"/>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1206041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CB1A0-DD62-99A7-8A80-42B9E7FB27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B8505C-F705-DA21-39B5-B602F06C5D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5684FD7-F3D5-662E-F317-B6473DD0D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E8683-C69A-5B19-8791-C60D89275C8D}"/>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6" name="Footer Placeholder 5">
            <a:extLst>
              <a:ext uri="{FF2B5EF4-FFF2-40B4-BE49-F238E27FC236}">
                <a16:creationId xmlns:a16="http://schemas.microsoft.com/office/drawing/2014/main" id="{4CAA074A-9918-0140-793F-1C682FAC03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77E90C-ECC8-87CF-013D-D8AF59277874}"/>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3485133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84222-9358-4C2C-3D03-C730AE0F99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66BD7D-07BC-C210-7ED9-0ACFF7EC83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FE6B4-0EBF-1384-CF1F-EC20F81DF5AE}"/>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5" name="Footer Placeholder 4">
            <a:extLst>
              <a:ext uri="{FF2B5EF4-FFF2-40B4-BE49-F238E27FC236}">
                <a16:creationId xmlns:a16="http://schemas.microsoft.com/office/drawing/2014/main" id="{1E8F6058-51CD-AD07-10D2-C01C291853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90235E-5B99-8450-D1D6-0FCDD6E20A0D}"/>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99137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D375EA-8817-C6DC-9449-D00E3C235D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A37857-37A2-4C6D-C34D-A7F3012111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FA6B3B-768B-AC13-7A17-4D3C854672FE}"/>
              </a:ext>
            </a:extLst>
          </p:cNvPr>
          <p:cNvSpPr>
            <a:spLocks noGrp="1"/>
          </p:cNvSpPr>
          <p:nvPr>
            <p:ph type="dt" sz="half" idx="10"/>
          </p:nvPr>
        </p:nvSpPr>
        <p:spPr/>
        <p:txBody>
          <a:bodyPr/>
          <a:lstStyle/>
          <a:p>
            <a:fld id="{A7A77A8A-385D-4349-8363-2EA3B2569FFC}" type="datetimeFigureOut">
              <a:rPr lang="en-IN" smtClean="0"/>
              <a:t>12-02-2026</a:t>
            </a:fld>
            <a:endParaRPr lang="en-IN"/>
          </a:p>
        </p:txBody>
      </p:sp>
      <p:sp>
        <p:nvSpPr>
          <p:cNvPr id="5" name="Footer Placeholder 4">
            <a:extLst>
              <a:ext uri="{FF2B5EF4-FFF2-40B4-BE49-F238E27FC236}">
                <a16:creationId xmlns:a16="http://schemas.microsoft.com/office/drawing/2014/main" id="{01F77CCD-18D6-116C-87B8-70BE3ECA0F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BBA7D5-8585-CCA1-F69C-A54E367D3565}"/>
              </a:ext>
            </a:extLst>
          </p:cNvPr>
          <p:cNvSpPr>
            <a:spLocks noGrp="1"/>
          </p:cNvSpPr>
          <p:nvPr>
            <p:ph type="sldNum" sz="quarter" idx="12"/>
          </p:nvPr>
        </p:nvSpPr>
        <p:spPr/>
        <p:txBody>
          <a:bodyPr/>
          <a:lstStyle/>
          <a:p>
            <a:fld id="{7584BD37-2CA8-47C1-84D6-FB49ADDC8967}" type="slidenum">
              <a:rPr lang="en-IN" smtClean="0"/>
              <a:t>‹#›</a:t>
            </a:fld>
            <a:endParaRPr lang="en-IN"/>
          </a:p>
        </p:txBody>
      </p:sp>
    </p:spTree>
    <p:extLst>
      <p:ext uri="{BB962C8B-B14F-4D97-AF65-F5344CB8AC3E}">
        <p14:creationId xmlns:p14="http://schemas.microsoft.com/office/powerpoint/2010/main" val="82862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3670EC-AEF1-397D-DFA5-DDCC3A26C1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135BDC-2C2A-D6F8-5B11-606344A9E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588ED4-1894-97AE-2512-E20B2745CA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A77A8A-385D-4349-8363-2EA3B2569FFC}" type="datetimeFigureOut">
              <a:rPr lang="en-IN" smtClean="0"/>
              <a:t>12-02-2026</a:t>
            </a:fld>
            <a:endParaRPr lang="en-IN"/>
          </a:p>
        </p:txBody>
      </p:sp>
      <p:sp>
        <p:nvSpPr>
          <p:cNvPr id="5" name="Footer Placeholder 4">
            <a:extLst>
              <a:ext uri="{FF2B5EF4-FFF2-40B4-BE49-F238E27FC236}">
                <a16:creationId xmlns:a16="http://schemas.microsoft.com/office/drawing/2014/main" id="{AB463CAC-47BE-5F7F-0ADD-090F7A7D5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53A6160-FC09-8AE6-6645-DEF6D5BD60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84BD37-2CA8-47C1-84D6-FB49ADDC8967}" type="slidenum">
              <a:rPr lang="en-IN" smtClean="0"/>
              <a:t>‹#›</a:t>
            </a:fld>
            <a:endParaRPr lang="en-IN"/>
          </a:p>
        </p:txBody>
      </p:sp>
    </p:spTree>
    <p:extLst>
      <p:ext uri="{BB962C8B-B14F-4D97-AF65-F5344CB8AC3E}">
        <p14:creationId xmlns:p14="http://schemas.microsoft.com/office/powerpoint/2010/main" val="3055011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5593-09B6-484C-B1EA-16C1F63A505C}"/>
              </a:ext>
            </a:extLst>
          </p:cNvPr>
          <p:cNvSpPr>
            <a:spLocks noGrp="1"/>
          </p:cNvSpPr>
          <p:nvPr>
            <p:ph type="ctrTitle"/>
          </p:nvPr>
        </p:nvSpPr>
        <p:spPr>
          <a:xfrm>
            <a:off x="2792010" y="281080"/>
            <a:ext cx="8299127" cy="1403577"/>
          </a:xfrm>
        </p:spPr>
        <p:txBody>
          <a:bodyPr>
            <a:normAutofit fontScale="90000"/>
          </a:bodyPr>
          <a:lstStyle/>
          <a:p>
            <a:r>
              <a:rPr lang="en-US" sz="2800" b="1" dirty="0">
                <a:latin typeface="Times New Roman" panose="02020603050405020304" pitchFamily="18" charset="0"/>
                <a:cs typeface="Times New Roman" panose="02020603050405020304" pitchFamily="18" charset="0"/>
              </a:rPr>
              <a:t>SATISH DHAWAN SPACE CENTRE (SDSC)</a:t>
            </a:r>
            <a:br>
              <a:rPr lang="en-IN"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INDIAN SPACE RESEARCH ORGANIZATION (ISRO)</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586D828-8ABF-131D-0539-7FBE31CB0100}"/>
              </a:ext>
            </a:extLst>
          </p:cNvPr>
          <p:cNvSpPr>
            <a:spLocks noGrp="1"/>
          </p:cNvSpPr>
          <p:nvPr>
            <p:ph type="subTitle" idx="1"/>
          </p:nvPr>
        </p:nvSpPr>
        <p:spPr>
          <a:xfrm>
            <a:off x="1523997" y="4001732"/>
            <a:ext cx="9144000" cy="1655762"/>
          </a:xfrm>
        </p:spPr>
        <p:txBody>
          <a:bodyPr>
            <a:noAutofit/>
          </a:bodyPr>
          <a:lstStyle/>
          <a:p>
            <a:r>
              <a:rPr lang="en-IN" sz="2000" i="1" dirty="0">
                <a:latin typeface="Times New Roman" panose="02020603050405020304" pitchFamily="18" charset="0"/>
                <a:cs typeface="Times New Roman" panose="02020603050405020304" pitchFamily="18" charset="0"/>
              </a:rPr>
              <a:t>By</a:t>
            </a:r>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C DHIYA</a:t>
            </a:r>
          </a:p>
          <a:p>
            <a:r>
              <a:rPr lang="en-IN" sz="2000" b="1" dirty="0">
                <a:latin typeface="Times New Roman" panose="02020603050405020304" pitchFamily="18" charset="0"/>
                <a:cs typeface="Times New Roman" panose="02020603050405020304" pitchFamily="18" charset="0"/>
              </a:rPr>
              <a:t>B TECH CSE (AIML)</a:t>
            </a:r>
          </a:p>
          <a:p>
            <a:r>
              <a:rPr lang="en-US" sz="2000" i="1" dirty="0">
                <a:latin typeface="Times New Roman" panose="02020603050405020304" pitchFamily="18" charset="0"/>
                <a:cs typeface="Times New Roman" panose="02020603050405020304" pitchFamily="18" charset="0"/>
              </a:rPr>
              <a:t>Under the guidance of</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Mr. K. MURALI, Engineer – SF, LSSF /SDSC SHAR/ISRO</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January - February 2026</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59EAD66-54B5-4EA4-46A2-DF63E97FEE1D}"/>
              </a:ext>
            </a:extLst>
          </p:cNvPr>
          <p:cNvSpPr txBox="1"/>
          <p:nvPr/>
        </p:nvSpPr>
        <p:spPr>
          <a:xfrm>
            <a:off x="801327" y="2319718"/>
            <a:ext cx="10589341" cy="1046953"/>
          </a:xfrm>
          <a:prstGeom prst="rect">
            <a:avLst/>
          </a:prstGeom>
          <a:noFill/>
        </p:spPr>
        <p:txBody>
          <a:bodyPr wrap="square">
            <a:spAutoFit/>
          </a:bodyPr>
          <a:lstStyle/>
          <a:p>
            <a:pPr algn="ctr">
              <a:lnSpc>
                <a:spcPct val="150000"/>
              </a:lnSpc>
              <a:buNone/>
            </a:pPr>
            <a:r>
              <a:rPr lang="en-US" sz="2200" b="1" dirty="0">
                <a:solidFill>
                  <a:srgbClr val="000000"/>
                </a:solidFill>
                <a:effectLst/>
                <a:latin typeface="Times New Roman" panose="02020603050405020304" pitchFamily="18" charset="0"/>
                <a:ea typeface="Garamond" panose="02020404030301010803" pitchFamily="18" charset="0"/>
                <a:cs typeface="Times New Roman" panose="02020603050405020304" pitchFamily="18" charset="0"/>
              </a:rPr>
              <a:t>CRYOGENIC SYSTEM DYNAMICS AND VEHICLE INTERFACE ANALYSIS FOR GSLV AND LVM3 VEHICLES</a:t>
            </a:r>
            <a:endParaRPr lang="en-IN" sz="2200" dirty="0">
              <a:solidFill>
                <a:srgbClr val="000080"/>
              </a:solidFill>
              <a:effectLst/>
              <a:latin typeface="Trebuchet MS" panose="020B0603020202020204" pitchFamily="34" charset="0"/>
              <a:ea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86F5FAB-975A-E90B-6698-321C38480C17}"/>
              </a:ext>
            </a:extLst>
          </p:cNvPr>
          <p:cNvPicPr>
            <a:picLocks noChangeAspect="1"/>
          </p:cNvPicPr>
          <p:nvPr/>
        </p:nvPicPr>
        <p:blipFill>
          <a:blip r:embed="rId2"/>
          <a:stretch>
            <a:fillRect/>
          </a:stretch>
        </p:blipFill>
        <p:spPr bwMode="auto">
          <a:xfrm>
            <a:off x="520595" y="176599"/>
            <a:ext cx="1593850" cy="1584960"/>
          </a:xfrm>
          <a:prstGeom prst="rect">
            <a:avLst/>
          </a:prstGeom>
        </p:spPr>
      </p:pic>
      <p:sp>
        <p:nvSpPr>
          <p:cNvPr id="7" name="Rectangle 6">
            <a:extLst>
              <a:ext uri="{FF2B5EF4-FFF2-40B4-BE49-F238E27FC236}">
                <a16:creationId xmlns:a16="http://schemas.microsoft.com/office/drawing/2014/main" id="{C179E660-8394-6DC7-163F-5B5FF14FD464}"/>
              </a:ext>
            </a:extLst>
          </p:cNvPr>
          <p:cNvSpPr/>
          <p:nvPr/>
        </p:nvSpPr>
        <p:spPr>
          <a:xfrm>
            <a:off x="108155" y="102591"/>
            <a:ext cx="11956026" cy="665281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20701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0B36A-55DF-1ACF-E104-7F130C656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07789-2944-CC74-76A4-076B2C12A189}"/>
              </a:ext>
            </a:extLst>
          </p:cNvPr>
          <p:cNvSpPr>
            <a:spLocks noGrp="1"/>
          </p:cNvSpPr>
          <p:nvPr>
            <p:ph type="title"/>
          </p:nvPr>
        </p:nvSpPr>
        <p:spPr/>
        <p:txBody>
          <a:bodyPr>
            <a:normAutofit/>
          </a:bodyPr>
          <a:lstStyle/>
          <a:p>
            <a:pPr algn="ctr"/>
            <a:r>
              <a:rPr lang="en-IN" sz="30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FFC4CBB0-AF5D-9512-540C-B490EA462FB3}"/>
              </a:ext>
            </a:extLst>
          </p:cNvPr>
          <p:cNvSpPr>
            <a:spLocks noGrp="1"/>
          </p:cNvSpPr>
          <p:nvPr>
            <p:ph idx="1"/>
          </p:nvPr>
        </p:nvSpPr>
        <p:spPr>
          <a:xfrm>
            <a:off x="838200" y="1799303"/>
            <a:ext cx="10515600" cy="4299002"/>
          </a:xfrm>
        </p:spPr>
        <p:txBody>
          <a:bodyPr>
            <a:noAutofit/>
          </a:bodyPr>
          <a:lstStyle/>
          <a:p>
            <a:pPr marL="0" indent="0" algn="just">
              <a:lnSpc>
                <a:spcPct val="150000"/>
              </a:lnSpc>
              <a:buNone/>
            </a:pPr>
            <a:r>
              <a:rPr lang="en-US" sz="1600" dirty="0">
                <a:latin typeface="Times New Roman" panose="02020603050405020304" pitchFamily="18" charset="0"/>
                <a:cs typeface="Times New Roman" panose="02020603050405020304" pitchFamily="18" charset="0"/>
              </a:rPr>
              <a:t>The </a:t>
            </a:r>
            <a:r>
              <a:rPr lang="en-US" sz="1600" b="1" dirty="0" err="1">
                <a:latin typeface="Times New Roman" panose="02020603050405020304" pitchFamily="18" charset="0"/>
                <a:cs typeface="Times New Roman" panose="02020603050405020304" pitchFamily="18" charset="0"/>
              </a:rPr>
              <a:t>Cryo</a:t>
            </a:r>
            <a:r>
              <a:rPr lang="en-US" sz="1600" b="1" dirty="0">
                <a:latin typeface="Times New Roman" panose="02020603050405020304" pitchFamily="18" charset="0"/>
                <a:cs typeface="Times New Roman" panose="02020603050405020304" pitchFamily="18" charset="0"/>
              </a:rPr>
              <a:t> Control System </a:t>
            </a:r>
            <a:r>
              <a:rPr lang="en-US" sz="1600" dirty="0">
                <a:latin typeface="Times New Roman" panose="02020603050405020304" pitchFamily="18" charset="0"/>
                <a:cs typeface="Times New Roman" panose="02020603050405020304" pitchFamily="18" charset="0"/>
              </a:rPr>
              <a:t>is a vital part of the launch infrastructure, managing Liquid Oxygen (</a:t>
            </a:r>
            <a:r>
              <a:rPr lang="en-US" sz="1600" b="1" dirty="0">
                <a:latin typeface="Times New Roman" panose="02020603050405020304" pitchFamily="18" charset="0"/>
                <a:cs typeface="Times New Roman" panose="02020603050405020304" pitchFamily="18" charset="0"/>
              </a:rPr>
              <a:t>LOX</a:t>
            </a:r>
            <a:r>
              <a:rPr lang="en-US" sz="1600" dirty="0">
                <a:latin typeface="Times New Roman" panose="02020603050405020304" pitchFamily="18" charset="0"/>
                <a:cs typeface="Times New Roman" panose="02020603050405020304" pitchFamily="18" charset="0"/>
              </a:rPr>
              <a:t>) and Liquid Hydrogen (</a:t>
            </a:r>
            <a:r>
              <a:rPr lang="en-US" sz="1600" b="1" dirty="0">
                <a:latin typeface="Times New Roman" panose="02020603050405020304" pitchFamily="18" charset="0"/>
                <a:cs typeface="Times New Roman" panose="02020603050405020304" pitchFamily="18" charset="0"/>
              </a:rPr>
              <a:t>LH2</a:t>
            </a:r>
            <a:r>
              <a:rPr lang="en-US" sz="1600" dirty="0">
                <a:latin typeface="Times New Roman" panose="02020603050405020304" pitchFamily="18" charset="0"/>
                <a:cs typeface="Times New Roman" panose="02020603050405020304" pitchFamily="18" charset="0"/>
              </a:rPr>
              <a:t>) supply to the launch vehicle.</a:t>
            </a:r>
          </a:p>
          <a:p>
            <a:pPr marL="0" indent="0" algn="just">
              <a:lnSpc>
                <a:spcPct val="150000"/>
              </a:lnSpc>
              <a:buNone/>
            </a:pPr>
            <a:r>
              <a:rPr lang="en-US" sz="1600" b="1" dirty="0">
                <a:latin typeface="Times New Roman" panose="02020603050405020304" pitchFamily="18" charset="0"/>
                <a:cs typeface="Times New Roman" panose="02020603050405020304" pitchFamily="18" charset="0"/>
              </a:rPr>
              <a:t>Key Systems Analyzed:</a:t>
            </a:r>
          </a:p>
          <a:p>
            <a:pPr algn="just">
              <a:lnSpc>
                <a:spcPct val="150000"/>
              </a:lnSpc>
            </a:pPr>
            <a:r>
              <a:rPr lang="en-US" sz="1600" b="1" dirty="0">
                <a:latin typeface="Times New Roman" panose="02020603050405020304" pitchFamily="18" charset="0"/>
                <a:cs typeface="Times New Roman" panose="02020603050405020304" pitchFamily="18" charset="0"/>
              </a:rPr>
              <a:t>Intelligent Control System (ICS): </a:t>
            </a:r>
            <a:r>
              <a:rPr lang="en-US" sz="1600" dirty="0">
                <a:latin typeface="Times New Roman" panose="02020603050405020304" pitchFamily="18" charset="0"/>
                <a:cs typeface="Times New Roman" panose="02020603050405020304" pitchFamily="18" charset="0"/>
              </a:rPr>
              <a:t>Performance validation is essential for mission safety.</a:t>
            </a:r>
          </a:p>
          <a:p>
            <a:pPr algn="just">
              <a:lnSpc>
                <a:spcPct val="150000"/>
              </a:lnSpc>
            </a:pPr>
            <a:r>
              <a:rPr lang="en-US" sz="1600" b="1" dirty="0">
                <a:latin typeface="Times New Roman" panose="02020603050405020304" pitchFamily="18" charset="0"/>
                <a:cs typeface="Times New Roman" panose="02020603050405020304" pitchFamily="18" charset="0"/>
              </a:rPr>
              <a:t>Accumulator Charging Systems: </a:t>
            </a:r>
            <a:r>
              <a:rPr lang="en-US" sz="1600" dirty="0">
                <a:latin typeface="Times New Roman" panose="02020603050405020304" pitchFamily="18" charset="0"/>
                <a:cs typeface="Times New Roman" panose="02020603050405020304" pitchFamily="18" charset="0"/>
              </a:rPr>
              <a:t>Monitoring pressure cycles and valve timing.</a:t>
            </a:r>
          </a:p>
          <a:p>
            <a:pPr algn="just">
              <a:lnSpc>
                <a:spcPct val="150000"/>
              </a:lnSpc>
            </a:pPr>
            <a:r>
              <a:rPr lang="en-US" sz="1600" b="1" dirty="0" err="1">
                <a:latin typeface="Times New Roman" panose="02020603050405020304" pitchFamily="18" charset="0"/>
                <a:cs typeface="Times New Roman" panose="02020603050405020304" pitchFamily="18" charset="0"/>
              </a:rPr>
              <a:t>Cryo</a:t>
            </a:r>
            <a:r>
              <a:rPr lang="en-US" sz="1600" b="1" dirty="0">
                <a:latin typeface="Times New Roman" panose="02020603050405020304" pitchFamily="18" charset="0"/>
                <a:cs typeface="Times New Roman" panose="02020603050405020304" pitchFamily="18" charset="0"/>
              </a:rPr>
              <a:t> Arm Retraction: </a:t>
            </a:r>
            <a:r>
              <a:rPr lang="en-US" sz="1600" dirty="0">
                <a:latin typeface="Times New Roman" panose="02020603050405020304" pitchFamily="18" charset="0"/>
                <a:cs typeface="Times New Roman" panose="02020603050405020304" pitchFamily="18" charset="0"/>
              </a:rPr>
              <a:t>Analyzing boom movement dynamics and retraction angles.</a:t>
            </a:r>
          </a:p>
          <a:p>
            <a:pPr marL="0" indent="0" algn="just">
              <a:lnSpc>
                <a:spcPct val="150000"/>
              </a:lnSpc>
              <a:buNone/>
            </a:pPr>
            <a:r>
              <a:rPr lang="en-US" sz="1600" dirty="0">
                <a:latin typeface="Times New Roman" panose="02020603050405020304" pitchFamily="18" charset="0"/>
                <a:cs typeface="Times New Roman" panose="02020603050405020304" pitchFamily="18" charset="0"/>
              </a:rPr>
              <a:t>This project introduces a </a:t>
            </a:r>
            <a:r>
              <a:rPr lang="en-US" sz="1600" b="1" dirty="0">
                <a:latin typeface="Times New Roman" panose="02020603050405020304" pitchFamily="18" charset="0"/>
                <a:cs typeface="Times New Roman" panose="02020603050405020304" pitchFamily="18" charset="0"/>
              </a:rPr>
              <a:t>Python-based Automation Suite</a:t>
            </a:r>
            <a:r>
              <a:rPr lang="en-US" sz="1600" dirty="0">
                <a:latin typeface="Times New Roman" panose="02020603050405020304" pitchFamily="18" charset="0"/>
                <a:cs typeface="Times New Roman" panose="02020603050405020304" pitchFamily="18" charset="0"/>
              </a:rPr>
              <a:t> designed to streamline the post-mission analysis of these systems. By leveraging libraries such as </a:t>
            </a:r>
            <a:r>
              <a:rPr lang="en-US" sz="1600" b="1" dirty="0">
                <a:latin typeface="Times New Roman" panose="02020603050405020304" pitchFamily="18" charset="0"/>
                <a:cs typeface="Times New Roman" panose="02020603050405020304" pitchFamily="18" charset="0"/>
              </a:rPr>
              <a:t>Pandas</a:t>
            </a:r>
            <a:r>
              <a:rPr lang="en-US" sz="1600" dirty="0">
                <a:latin typeface="Times New Roman" panose="02020603050405020304" pitchFamily="18" charset="0"/>
                <a:cs typeface="Times New Roman" panose="02020603050405020304" pitchFamily="18" charset="0"/>
              </a:rPr>
              <a:t> for data manipulation and </a:t>
            </a:r>
            <a:r>
              <a:rPr lang="en-US" sz="1600" b="1" dirty="0">
                <a:latin typeface="Times New Roman" panose="02020603050405020304" pitchFamily="18" charset="0"/>
                <a:cs typeface="Times New Roman" panose="02020603050405020304" pitchFamily="18" charset="0"/>
              </a:rPr>
              <a:t>Matplotlib</a:t>
            </a:r>
            <a:r>
              <a:rPr lang="en-US" sz="1600" dirty="0">
                <a:latin typeface="Times New Roman" panose="02020603050405020304" pitchFamily="18" charset="0"/>
                <a:cs typeface="Times New Roman" panose="02020603050405020304" pitchFamily="18" charset="0"/>
              </a:rPr>
              <a:t> for visualization, the tool processes high-frequency telemetry data from Excel logs. It implements complex logic to map PLC timestamps to real-world events, analyzes accumulator charging cycles, and visualizes boom retraction trajectories.</a:t>
            </a:r>
          </a:p>
        </p:txBody>
      </p:sp>
      <p:pic>
        <p:nvPicPr>
          <p:cNvPr id="4" name="Picture 3">
            <a:extLst>
              <a:ext uri="{FF2B5EF4-FFF2-40B4-BE49-F238E27FC236}">
                <a16:creationId xmlns:a16="http://schemas.microsoft.com/office/drawing/2014/main" id="{26E847E0-78E1-FCB7-ED41-B8C271875464}"/>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88940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6A961-7C9A-58F0-3560-A8294C298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876E5-A82A-0F2C-B6DF-23D0CAFFD53F}"/>
              </a:ext>
            </a:extLst>
          </p:cNvPr>
          <p:cNvSpPr>
            <a:spLocks noGrp="1"/>
          </p:cNvSpPr>
          <p:nvPr>
            <p:ph type="title"/>
          </p:nvPr>
        </p:nvSpPr>
        <p:spPr/>
        <p:txBody>
          <a:bodyPr>
            <a:normAutofit/>
          </a:bodyPr>
          <a:lstStyle/>
          <a:p>
            <a:pPr algn="ctr"/>
            <a:r>
              <a:rPr lang="en-IN" sz="3000" b="1" dirty="0">
                <a:latin typeface="Times New Roman" panose="02020603050405020304" pitchFamily="18" charset="0"/>
                <a:cs typeface="Times New Roman" panose="02020603050405020304" pitchFamily="18" charset="0"/>
              </a:rPr>
              <a:t>DATASETS</a:t>
            </a:r>
          </a:p>
        </p:txBody>
      </p:sp>
      <p:sp>
        <p:nvSpPr>
          <p:cNvPr id="3" name="Content Placeholder 2">
            <a:extLst>
              <a:ext uri="{FF2B5EF4-FFF2-40B4-BE49-F238E27FC236}">
                <a16:creationId xmlns:a16="http://schemas.microsoft.com/office/drawing/2014/main" id="{9C5460C9-EB69-CE9B-73B4-58CA7C19F79B}"/>
              </a:ext>
            </a:extLst>
          </p:cNvPr>
          <p:cNvSpPr>
            <a:spLocks noGrp="1"/>
          </p:cNvSpPr>
          <p:nvPr>
            <p:ph idx="1"/>
          </p:nvPr>
        </p:nvSpPr>
        <p:spPr>
          <a:xfrm>
            <a:off x="838199" y="1563739"/>
            <a:ext cx="10515600" cy="5106117"/>
          </a:xfrm>
        </p:spPr>
        <p:txBody>
          <a:bodyPr>
            <a:normAutofit fontScale="32500" lnSpcReduction="20000"/>
          </a:bodyPr>
          <a:lstStyle/>
          <a:p>
            <a:pPr marL="0" indent="0">
              <a:buNone/>
            </a:pPr>
            <a:r>
              <a:rPr lang="en-IN" sz="5600" b="1" dirty="0">
                <a:latin typeface="Times New Roman" panose="02020603050405020304" pitchFamily="18" charset="0"/>
                <a:cs typeface="Times New Roman" panose="02020603050405020304" pitchFamily="18" charset="0"/>
              </a:rPr>
              <a:t>Mark-2 Datasets</a:t>
            </a:r>
          </a:p>
          <a:p>
            <a:pPr marL="0" indent="0">
              <a:buNone/>
            </a:pPr>
            <a:r>
              <a:rPr lang="en-IN" sz="5600" dirty="0">
                <a:latin typeface="Times New Roman" panose="02020603050405020304" pitchFamily="18" charset="0"/>
                <a:cs typeface="Times New Roman" panose="02020603050405020304" pitchFamily="18" charset="0"/>
              </a:rPr>
              <a:t>Dataset 1:</a:t>
            </a:r>
          </a:p>
          <a:p>
            <a:pPr marL="0" indent="0">
              <a:buNone/>
            </a:pPr>
            <a:r>
              <a:rPr lang="en-IN" sz="5600" dirty="0">
                <a:latin typeface="Times New Roman" panose="02020603050405020304" pitchFamily="18" charset="0"/>
                <a:cs typeface="Times New Roman" panose="02020603050405020304" pitchFamily="18" charset="0"/>
              </a:rPr>
              <a:t>Dataset 2:</a:t>
            </a:r>
          </a:p>
          <a:p>
            <a:pPr marL="0" indent="0">
              <a:buNone/>
            </a:pPr>
            <a:r>
              <a:rPr lang="en-IN" sz="5600" dirty="0">
                <a:latin typeface="Times New Roman" panose="02020603050405020304" pitchFamily="18" charset="0"/>
                <a:cs typeface="Times New Roman" panose="02020603050405020304" pitchFamily="18" charset="0"/>
              </a:rPr>
              <a:t>Dataset 3:</a:t>
            </a:r>
          </a:p>
          <a:p>
            <a:pPr marL="0" indent="0">
              <a:buNone/>
            </a:pPr>
            <a:r>
              <a:rPr lang="en-IN" sz="5600" b="1" dirty="0">
                <a:latin typeface="Times New Roman" panose="02020603050405020304" pitchFamily="18" charset="0"/>
                <a:cs typeface="Times New Roman" panose="02020603050405020304" pitchFamily="18" charset="0"/>
              </a:rPr>
              <a:t>Mark-3 Datasets</a:t>
            </a:r>
          </a:p>
          <a:p>
            <a:pPr marL="0" indent="0">
              <a:buNone/>
            </a:pPr>
            <a:r>
              <a:rPr lang="en-IN" sz="5600" dirty="0">
                <a:latin typeface="Times New Roman" panose="02020603050405020304" pitchFamily="18" charset="0"/>
                <a:cs typeface="Times New Roman" panose="02020603050405020304" pitchFamily="18" charset="0"/>
              </a:rPr>
              <a:t>Dataset 1:</a:t>
            </a:r>
          </a:p>
          <a:p>
            <a:pPr marL="0" indent="0">
              <a:buNone/>
            </a:pPr>
            <a:r>
              <a:rPr lang="en-IN" sz="5600" dirty="0">
                <a:latin typeface="Times New Roman" panose="02020603050405020304" pitchFamily="18" charset="0"/>
                <a:cs typeface="Times New Roman" panose="02020603050405020304" pitchFamily="18" charset="0"/>
              </a:rPr>
              <a:t>Dataset 2:</a:t>
            </a:r>
          </a:p>
          <a:p>
            <a:pPr marL="0" indent="0">
              <a:buNone/>
            </a:pPr>
            <a:r>
              <a:rPr lang="en-IN" sz="5600" dirty="0">
                <a:latin typeface="Times New Roman" panose="02020603050405020304" pitchFamily="18" charset="0"/>
                <a:cs typeface="Times New Roman" panose="02020603050405020304" pitchFamily="18" charset="0"/>
              </a:rPr>
              <a:t>Dataset 3:</a:t>
            </a:r>
          </a:p>
          <a:p>
            <a:pPr marL="0" indent="0">
              <a:buNone/>
            </a:pPr>
            <a:r>
              <a:rPr lang="en-IN" sz="5600" b="1" dirty="0">
                <a:latin typeface="Times New Roman" panose="02020603050405020304" pitchFamily="18" charset="0"/>
                <a:cs typeface="Times New Roman" panose="02020603050405020304" pitchFamily="18" charset="0"/>
              </a:rPr>
              <a:t>What datasets contain (common description):</a:t>
            </a:r>
          </a:p>
          <a:p>
            <a:pPr marL="0" indent="0">
              <a:buNone/>
            </a:pPr>
            <a:r>
              <a:rPr lang="en-IN" sz="5600" dirty="0">
                <a:latin typeface="Times New Roman" panose="02020603050405020304" pitchFamily="18" charset="0"/>
                <a:cs typeface="Times New Roman" panose="02020603050405020304" pitchFamily="18" charset="0"/>
              </a:rPr>
              <a:t>Timestamped telemetry values</a:t>
            </a:r>
          </a:p>
          <a:p>
            <a:pPr marL="0" indent="0">
              <a:buNone/>
            </a:pPr>
            <a:r>
              <a:rPr lang="en-IN" sz="5600" dirty="0">
                <a:latin typeface="Times New Roman" panose="02020603050405020304" pitchFamily="18" charset="0"/>
                <a:cs typeface="Times New Roman" panose="02020603050405020304" pitchFamily="18" charset="0"/>
              </a:rPr>
              <a:t>LOX pressure measurements</a:t>
            </a:r>
          </a:p>
          <a:p>
            <a:pPr marL="0" indent="0">
              <a:buNone/>
            </a:pPr>
            <a:r>
              <a:rPr lang="en-IN" sz="5600" dirty="0">
                <a:latin typeface="Times New Roman" panose="02020603050405020304" pitchFamily="18" charset="0"/>
                <a:cs typeface="Times New Roman" panose="02020603050405020304" pitchFamily="18" charset="0"/>
              </a:rPr>
              <a:t>LH2 pressure measurements</a:t>
            </a:r>
          </a:p>
          <a:p>
            <a:pPr marL="0" indent="0">
              <a:buNone/>
            </a:pPr>
            <a:r>
              <a:rPr lang="en-IN" sz="5600" dirty="0">
                <a:latin typeface="Times New Roman" panose="02020603050405020304" pitchFamily="18" charset="0"/>
                <a:cs typeface="Times New Roman" panose="02020603050405020304" pitchFamily="18" charset="0"/>
              </a:rPr>
              <a:t>Accumulator charging/discharging values</a:t>
            </a:r>
          </a:p>
          <a:p>
            <a:pPr marL="0" indent="0">
              <a:buNone/>
            </a:pPr>
            <a:r>
              <a:rPr lang="en-IN" sz="5600" dirty="0">
                <a:latin typeface="Times New Roman" panose="02020603050405020304" pitchFamily="18" charset="0"/>
                <a:cs typeface="Times New Roman" panose="02020603050405020304" pitchFamily="18" charset="0"/>
              </a:rPr>
              <a:t>Cryogenic arm boom position data</a:t>
            </a:r>
          </a:p>
          <a:p>
            <a:pPr marL="0" indent="0">
              <a:buNone/>
            </a:pPr>
            <a:r>
              <a:rPr lang="en-IN" sz="5600" dirty="0">
                <a:latin typeface="Times New Roman" panose="02020603050405020304" pitchFamily="18" charset="0"/>
                <a:cs typeface="Times New Roman" panose="02020603050405020304" pitchFamily="18" charset="0"/>
              </a:rPr>
              <a:t>UCU separation event timings</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53A5F90-D937-268F-4E2F-5D1D51B30D58}"/>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2518716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900D2-954F-E608-28F0-0A975FB25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D4438-2BD4-40BF-CE57-E21D3997BF81}"/>
              </a:ext>
            </a:extLst>
          </p:cNvPr>
          <p:cNvSpPr>
            <a:spLocks noGrp="1"/>
          </p:cNvSpPr>
          <p:nvPr>
            <p:ph type="title"/>
          </p:nvPr>
        </p:nvSpPr>
        <p:spPr>
          <a:xfrm>
            <a:off x="838199" y="709936"/>
            <a:ext cx="10515600" cy="598436"/>
          </a:xfrm>
        </p:spPr>
        <p:txBody>
          <a:bodyPr>
            <a:noAutofit/>
          </a:bodyPr>
          <a:lstStyle/>
          <a:p>
            <a:pPr algn="ctr"/>
            <a:r>
              <a:rPr lang="en-IN" sz="3000" b="1" dirty="0">
                <a:latin typeface="Times New Roman" panose="02020603050405020304" pitchFamily="18" charset="0"/>
                <a:cs typeface="Times New Roman" panose="02020603050405020304" pitchFamily="18" charset="0"/>
              </a:rPr>
              <a:t>SYSTEM ARCHITECTURE DIAGRAM</a:t>
            </a:r>
            <a:br>
              <a:rPr lang="en-IN" sz="3000" b="1" dirty="0">
                <a:latin typeface="Times New Roman" panose="02020603050405020304" pitchFamily="18" charset="0"/>
                <a:cs typeface="Times New Roman" panose="02020603050405020304" pitchFamily="18" charset="0"/>
              </a:rPr>
            </a:br>
            <a:r>
              <a:rPr lang="en-IN" sz="3000" b="1" dirty="0">
                <a:latin typeface="Times New Roman" panose="02020603050405020304" pitchFamily="18" charset="0"/>
                <a:cs typeface="Times New Roman" panose="02020603050405020304" pitchFamily="18" charset="0"/>
              </a:rPr>
              <a:t>					</a:t>
            </a:r>
          </a:p>
        </p:txBody>
      </p:sp>
      <p:pic>
        <p:nvPicPr>
          <p:cNvPr id="5" name="Content Placeholder 4">
            <a:extLst>
              <a:ext uri="{FF2B5EF4-FFF2-40B4-BE49-F238E27FC236}">
                <a16:creationId xmlns:a16="http://schemas.microsoft.com/office/drawing/2014/main" id="{77506E15-BA55-A49E-D006-48F55C959426}"/>
              </a:ext>
            </a:extLst>
          </p:cNvPr>
          <p:cNvPicPr>
            <a:picLocks noGrp="1" noChangeAspect="1"/>
          </p:cNvPicPr>
          <p:nvPr>
            <p:ph idx="1"/>
          </p:nvPr>
        </p:nvPicPr>
        <p:blipFill>
          <a:blip r:embed="rId2"/>
          <a:stretch>
            <a:fillRect/>
          </a:stretch>
        </p:blipFill>
        <p:spPr>
          <a:xfrm>
            <a:off x="471521" y="1853831"/>
            <a:ext cx="5671992" cy="4840646"/>
          </a:xfrm>
          <a:prstGeom prst="rect">
            <a:avLst/>
          </a:prstGeom>
        </p:spPr>
      </p:pic>
      <p:pic>
        <p:nvPicPr>
          <p:cNvPr id="7" name="Picture 6">
            <a:extLst>
              <a:ext uri="{FF2B5EF4-FFF2-40B4-BE49-F238E27FC236}">
                <a16:creationId xmlns:a16="http://schemas.microsoft.com/office/drawing/2014/main" id="{F03D91A6-26B8-A9BD-95C5-45BCA2ACB682}"/>
              </a:ext>
            </a:extLst>
          </p:cNvPr>
          <p:cNvPicPr>
            <a:picLocks noChangeAspect="1"/>
          </p:cNvPicPr>
          <p:nvPr/>
        </p:nvPicPr>
        <p:blipFill>
          <a:blip r:embed="rId3"/>
          <a:stretch>
            <a:fillRect/>
          </a:stretch>
        </p:blipFill>
        <p:spPr>
          <a:xfrm>
            <a:off x="6143513" y="1781520"/>
            <a:ext cx="5867517" cy="5007513"/>
          </a:xfrm>
          <a:prstGeom prst="rect">
            <a:avLst/>
          </a:prstGeom>
        </p:spPr>
      </p:pic>
      <p:sp>
        <p:nvSpPr>
          <p:cNvPr id="9" name="TextBox 8">
            <a:extLst>
              <a:ext uri="{FF2B5EF4-FFF2-40B4-BE49-F238E27FC236}">
                <a16:creationId xmlns:a16="http://schemas.microsoft.com/office/drawing/2014/main" id="{80B61E31-FF65-1E30-6369-E9350698BCB2}"/>
              </a:ext>
            </a:extLst>
          </p:cNvPr>
          <p:cNvSpPr txBox="1"/>
          <p:nvPr/>
        </p:nvSpPr>
        <p:spPr>
          <a:xfrm>
            <a:off x="2275129" y="1399843"/>
            <a:ext cx="2064776"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MARK II (GSLV)</a:t>
            </a:r>
          </a:p>
        </p:txBody>
      </p:sp>
      <p:sp>
        <p:nvSpPr>
          <p:cNvPr id="11" name="TextBox 10">
            <a:extLst>
              <a:ext uri="{FF2B5EF4-FFF2-40B4-BE49-F238E27FC236}">
                <a16:creationId xmlns:a16="http://schemas.microsoft.com/office/drawing/2014/main" id="{9A0EB342-4BDD-3957-5494-ACA4D5E91590}"/>
              </a:ext>
            </a:extLst>
          </p:cNvPr>
          <p:cNvSpPr txBox="1"/>
          <p:nvPr/>
        </p:nvSpPr>
        <p:spPr>
          <a:xfrm>
            <a:off x="7947122" y="1396435"/>
            <a:ext cx="213641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MARK III (LVM3)</a:t>
            </a:r>
          </a:p>
        </p:txBody>
      </p:sp>
      <p:cxnSp>
        <p:nvCxnSpPr>
          <p:cNvPr id="13" name="Straight Connector 12">
            <a:extLst>
              <a:ext uri="{FF2B5EF4-FFF2-40B4-BE49-F238E27FC236}">
                <a16:creationId xmlns:a16="http://schemas.microsoft.com/office/drawing/2014/main" id="{2A11AA8A-33EC-5F59-1864-E3EDA05B583A}"/>
              </a:ext>
            </a:extLst>
          </p:cNvPr>
          <p:cNvCxnSpPr>
            <a:cxnSpLocks/>
          </p:cNvCxnSpPr>
          <p:nvPr/>
        </p:nvCxnSpPr>
        <p:spPr>
          <a:xfrm>
            <a:off x="6143513" y="1408489"/>
            <a:ext cx="0" cy="5191432"/>
          </a:xfrm>
          <a:prstGeom prst="line">
            <a:avLst/>
          </a:prstGeom>
          <a:ln>
            <a:solidFill>
              <a:schemeClr val="tx1"/>
            </a:solidFill>
          </a:ln>
          <a:scene3d>
            <a:camera prst="orthographicFront"/>
            <a:lightRig rig="threePt" dir="t"/>
          </a:scene3d>
          <a:sp3d>
            <a:bevelT prst="relaxedInset"/>
          </a:sp3d>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44895D8D-60A2-2616-6D98-E757BDB20AF5}"/>
              </a:ext>
            </a:extLst>
          </p:cNvPr>
          <p:cNvPicPr>
            <a:picLocks noChangeAspect="1"/>
          </p:cNvPicPr>
          <p:nvPr/>
        </p:nvPicPr>
        <p:blipFill>
          <a:blip r:embed="rId4"/>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2157255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291AB-2B0F-7522-2E83-1193CFA6C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A0AB5-9500-1108-A3B2-7B28190498CC}"/>
              </a:ext>
            </a:extLst>
          </p:cNvPr>
          <p:cNvSpPr>
            <a:spLocks noGrp="1"/>
          </p:cNvSpPr>
          <p:nvPr>
            <p:ph type="title"/>
          </p:nvPr>
        </p:nvSpPr>
        <p:spPr>
          <a:xfrm>
            <a:off x="1284849" y="-19157"/>
            <a:ext cx="10515600" cy="1325563"/>
          </a:xfrm>
        </p:spPr>
        <p:txBody>
          <a:bodyPr>
            <a:normAutofit/>
          </a:bodyPr>
          <a:lstStyle/>
          <a:p>
            <a:pPr algn="ctr"/>
            <a:r>
              <a:rPr lang="en-IN" sz="2800" b="1" dirty="0">
                <a:latin typeface="Times New Roman" panose="02020603050405020304" pitchFamily="18" charset="0"/>
                <a:cs typeface="Times New Roman" panose="02020603050405020304" pitchFamily="18" charset="0"/>
              </a:rPr>
              <a:t>INPUT AND </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DATA PREPROCESSING</a:t>
            </a:r>
            <a:r>
              <a:rPr lang="en-IN" sz="2800" b="1" dirty="0">
                <a:latin typeface="Times New Roman" panose="02020603050405020304" pitchFamily="18" charset="0"/>
                <a:cs typeface="Times New Roman" panose="02020603050405020304" pitchFamily="18" charset="0"/>
              </a:rPr>
              <a:t> STAGE</a:t>
            </a:r>
          </a:p>
        </p:txBody>
      </p:sp>
      <p:sp>
        <p:nvSpPr>
          <p:cNvPr id="3" name="Content Placeholder 2">
            <a:extLst>
              <a:ext uri="{FF2B5EF4-FFF2-40B4-BE49-F238E27FC236}">
                <a16:creationId xmlns:a16="http://schemas.microsoft.com/office/drawing/2014/main" id="{800B099F-B9FD-A865-43D8-6A43037D4C47}"/>
              </a:ext>
            </a:extLst>
          </p:cNvPr>
          <p:cNvSpPr>
            <a:spLocks noGrp="1"/>
          </p:cNvSpPr>
          <p:nvPr>
            <p:ph idx="1"/>
          </p:nvPr>
        </p:nvSpPr>
        <p:spPr>
          <a:xfrm>
            <a:off x="768142" y="1506672"/>
            <a:ext cx="3716593" cy="2412078"/>
          </a:xfrm>
        </p:spPr>
        <p:txBody>
          <a:bodyPr>
            <a:normAutofit lnSpcReduction="10000"/>
          </a:bodyPr>
          <a:lstStyle/>
          <a:p>
            <a:pPr marL="0" indent="0">
              <a:buNone/>
            </a:pPr>
            <a:r>
              <a:rPr lang="en-IN" sz="1400" b="1" dirty="0">
                <a:latin typeface="Times New Roman" panose="02020603050405020304" pitchFamily="18" charset="0"/>
                <a:cs typeface="Times New Roman" panose="02020603050405020304" pitchFamily="18" charset="0"/>
              </a:rPr>
              <a:t>User Input Through GUI</a:t>
            </a:r>
          </a:p>
          <a:p>
            <a:pPr marL="0" indent="0">
              <a:buNone/>
            </a:pPr>
            <a:r>
              <a:rPr lang="en-IN" sz="1400" dirty="0">
                <a:latin typeface="Times New Roman" panose="02020603050405020304" pitchFamily="18" charset="0"/>
                <a:cs typeface="Times New Roman" panose="02020603050405020304" pitchFamily="18" charset="0"/>
              </a:rPr>
              <a:t>System uses </a:t>
            </a:r>
            <a:r>
              <a:rPr lang="en-IN" sz="1400" b="1" dirty="0" err="1">
                <a:latin typeface="Times New Roman" panose="02020603050405020304" pitchFamily="18" charset="0"/>
                <a:cs typeface="Times New Roman" panose="02020603050405020304" pitchFamily="18" charset="0"/>
              </a:rPr>
              <a:t>Tkinter</a:t>
            </a:r>
            <a:r>
              <a:rPr lang="en-IN" sz="1400" b="1" dirty="0">
                <a:latin typeface="Times New Roman" panose="02020603050405020304" pitchFamily="18" charset="0"/>
                <a:cs typeface="Times New Roman" panose="02020603050405020304" pitchFamily="18" charset="0"/>
              </a:rPr>
              <a:t> GUI</a:t>
            </a:r>
            <a:r>
              <a:rPr lang="en-IN" sz="1400" dirty="0">
                <a:latin typeface="Times New Roman" panose="02020603050405020304" pitchFamily="18" charset="0"/>
                <a:cs typeface="Times New Roman" panose="02020603050405020304" pitchFamily="18" charset="0"/>
              </a:rPr>
              <a:t> for uploading Excel files.</a:t>
            </a:r>
          </a:p>
          <a:p>
            <a:pPr marL="0" indent="0">
              <a:buNone/>
            </a:pPr>
            <a:r>
              <a:rPr lang="en-IN" sz="1400" dirty="0">
                <a:latin typeface="Times New Roman" panose="02020603050405020304" pitchFamily="18" charset="0"/>
                <a:cs typeface="Times New Roman" panose="02020603050405020304" pitchFamily="18" charset="0"/>
              </a:rPr>
              <a:t>File selection handled using:</a:t>
            </a:r>
          </a:p>
          <a:p>
            <a:pPr marL="457200" lvl="1" indent="0">
              <a:buNone/>
            </a:pPr>
            <a:r>
              <a:rPr lang="en-IN" sz="1400" i="1" dirty="0" err="1">
                <a:latin typeface="Times New Roman" panose="02020603050405020304" pitchFamily="18" charset="0"/>
                <a:cs typeface="Times New Roman" panose="02020603050405020304" pitchFamily="18" charset="0"/>
              </a:rPr>
              <a:t>filedialog.askopenfilename</a:t>
            </a:r>
            <a:r>
              <a:rPr lang="en-IN" sz="1400" i="1" dirty="0">
                <a:latin typeface="Times New Roman" panose="02020603050405020304" pitchFamily="18" charset="0"/>
                <a:cs typeface="Times New Roman" panose="02020603050405020304" pitchFamily="18" charset="0"/>
              </a:rPr>
              <a:t>()</a:t>
            </a:r>
          </a:p>
          <a:p>
            <a:pPr marL="0" indent="0">
              <a:buNone/>
            </a:pPr>
            <a:r>
              <a:rPr lang="en-IN" sz="1400" dirty="0">
                <a:latin typeface="Times New Roman" panose="02020603050405020304" pitchFamily="18" charset="0"/>
                <a:cs typeface="Times New Roman" panose="02020603050405020304" pitchFamily="18" charset="0"/>
              </a:rPr>
              <a:t>User provides:</a:t>
            </a:r>
          </a:p>
          <a:p>
            <a:pPr marL="457200" lvl="1" indent="0">
              <a:buNone/>
            </a:pPr>
            <a:r>
              <a:rPr lang="en-IN" sz="1400" dirty="0">
                <a:latin typeface="Times New Roman" panose="02020603050405020304" pitchFamily="18" charset="0"/>
                <a:cs typeface="Times New Roman" panose="02020603050405020304" pitchFamily="18" charset="0"/>
              </a:rPr>
              <a:t>Event Date</a:t>
            </a:r>
          </a:p>
          <a:p>
            <a:pPr marL="457200" lvl="1" indent="0">
              <a:buNone/>
            </a:pPr>
            <a:r>
              <a:rPr lang="en-IN" sz="1400" dirty="0">
                <a:latin typeface="Times New Roman" panose="02020603050405020304" pitchFamily="18" charset="0"/>
                <a:cs typeface="Times New Roman" panose="02020603050405020304" pitchFamily="18" charset="0"/>
              </a:rPr>
              <a:t>Event Time</a:t>
            </a:r>
          </a:p>
          <a:p>
            <a:pPr marL="0" indent="0">
              <a:buNone/>
            </a:pPr>
            <a:r>
              <a:rPr lang="en-IN" sz="1400" dirty="0">
                <a:latin typeface="Times New Roman" panose="02020603050405020304" pitchFamily="18" charset="0"/>
                <a:cs typeface="Times New Roman" panose="02020603050405020304" pitchFamily="18" charset="0"/>
              </a:rPr>
              <a:t>Inputs are passed to data processing functions.</a:t>
            </a:r>
          </a:p>
          <a:p>
            <a:pPr marL="0" indent="0">
              <a:buNone/>
            </a:pP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9F0EEB1-7DC7-C509-9847-96416E8E7A32}"/>
              </a:ext>
            </a:extLst>
          </p:cNvPr>
          <p:cNvSpPr txBox="1"/>
          <p:nvPr/>
        </p:nvSpPr>
        <p:spPr>
          <a:xfrm>
            <a:off x="4919816" y="1773677"/>
            <a:ext cx="2986549" cy="1600438"/>
          </a:xfrm>
          <a:prstGeom prst="rect">
            <a:avLst/>
          </a:prstGeom>
          <a:noFill/>
        </p:spPr>
        <p:txBody>
          <a:bodyPr wrap="square">
            <a:spAutoFit/>
          </a:bodyPr>
          <a:lstStyle/>
          <a:p>
            <a:r>
              <a:rPr lang="en-IN" sz="1400" b="1" dirty="0">
                <a:latin typeface="Times New Roman" panose="02020603050405020304" pitchFamily="18" charset="0"/>
                <a:cs typeface="Times New Roman" panose="02020603050405020304" pitchFamily="18" charset="0"/>
              </a:rPr>
              <a:t>Reading Excel Files</a:t>
            </a:r>
          </a:p>
          <a:p>
            <a:r>
              <a:rPr lang="en-IN" sz="1400" dirty="0">
                <a:latin typeface="Times New Roman" panose="02020603050405020304" pitchFamily="18" charset="0"/>
                <a:cs typeface="Times New Roman" panose="02020603050405020304" pitchFamily="18" charset="0"/>
              </a:rPr>
              <a:t>Excel files are loaded using </a:t>
            </a:r>
            <a:r>
              <a:rPr lang="en-IN" sz="1400" b="1" dirty="0">
                <a:latin typeface="Times New Roman" panose="02020603050405020304" pitchFamily="18" charset="0"/>
                <a:cs typeface="Times New Roman" panose="02020603050405020304" pitchFamily="18" charset="0"/>
              </a:rPr>
              <a:t>Pandas</a:t>
            </a:r>
            <a:r>
              <a:rPr lang="en-IN" sz="1400" dirty="0">
                <a:latin typeface="Times New Roman" panose="02020603050405020304" pitchFamily="18" charset="0"/>
                <a:cs typeface="Times New Roman" panose="02020603050405020304" pitchFamily="18" charset="0"/>
              </a:rPr>
              <a:t>:</a:t>
            </a:r>
          </a:p>
          <a:p>
            <a:pPr lvl="1"/>
            <a:r>
              <a:rPr lang="en-IN" sz="1400" i="1" dirty="0" err="1">
                <a:latin typeface="Times New Roman" panose="02020603050405020304" pitchFamily="18" charset="0"/>
                <a:cs typeface="Times New Roman" panose="02020603050405020304" pitchFamily="18" charset="0"/>
              </a:rPr>
              <a:t>pd.read_excel</a:t>
            </a:r>
            <a:r>
              <a:rPr lang="en-IN" sz="1400" i="1" dirty="0">
                <a:latin typeface="Times New Roman" panose="02020603050405020304" pitchFamily="18" charset="0"/>
                <a:cs typeface="Times New Roman" panose="02020603050405020304" pitchFamily="18" charset="0"/>
              </a:rPr>
              <a:t>(</a:t>
            </a:r>
            <a:r>
              <a:rPr lang="en-IN" sz="1400" i="1" dirty="0" err="1">
                <a:latin typeface="Times New Roman" panose="02020603050405020304" pitchFamily="18" charset="0"/>
                <a:cs typeface="Times New Roman" panose="02020603050405020304" pitchFamily="18" charset="0"/>
              </a:rPr>
              <a:t>file_path,engine</a:t>
            </a:r>
            <a:r>
              <a:rPr lang="en-IN" sz="1400" i="1" dirty="0">
                <a:latin typeface="Times New Roman" panose="02020603050405020304" pitchFamily="18" charset="0"/>
                <a:cs typeface="Times New Roman" panose="02020603050405020304" pitchFamily="18" charset="0"/>
              </a:rPr>
              <a:t>="</a:t>
            </a:r>
            <a:r>
              <a:rPr lang="en-IN" sz="1400" i="1" dirty="0" err="1">
                <a:latin typeface="Times New Roman" panose="02020603050405020304" pitchFamily="18" charset="0"/>
                <a:cs typeface="Times New Roman" panose="02020603050405020304" pitchFamily="18" charset="0"/>
              </a:rPr>
              <a:t>openpyxl</a:t>
            </a:r>
            <a:r>
              <a:rPr lang="en-IN" sz="1400" i="1" dirty="0">
                <a:latin typeface="Times New Roman" panose="02020603050405020304" pitchFamily="18" charset="0"/>
                <a:cs typeface="Times New Roman" panose="02020603050405020304" pitchFamily="18" charset="0"/>
              </a:rPr>
              <a:t>", </a:t>
            </a:r>
            <a:r>
              <a:rPr lang="en-IN" sz="1400" i="1" dirty="0" err="1">
                <a:latin typeface="Times New Roman" panose="02020603050405020304" pitchFamily="18" charset="0"/>
                <a:cs typeface="Times New Roman" panose="02020603050405020304" pitchFamily="18" charset="0"/>
              </a:rPr>
              <a:t>dtype</a:t>
            </a:r>
            <a:r>
              <a:rPr lang="en-IN" sz="1400" i="1" dirty="0">
                <a:latin typeface="Times New Roman" panose="02020603050405020304" pitchFamily="18" charset="0"/>
                <a:cs typeface="Times New Roman" panose="02020603050405020304" pitchFamily="18" charset="0"/>
              </a:rPr>
              <a:t>=object)</a:t>
            </a:r>
          </a:p>
          <a:p>
            <a:r>
              <a:rPr lang="en-IN" sz="1400" dirty="0">
                <a:latin typeface="Times New Roman" panose="02020603050405020304" pitchFamily="18" charset="0"/>
                <a:cs typeface="Times New Roman" panose="02020603050405020304" pitchFamily="18" charset="0"/>
              </a:rPr>
              <a:t>Converts raw cryogenic data into structured </a:t>
            </a:r>
            <a:r>
              <a:rPr lang="en-IN" sz="1400" dirty="0" err="1">
                <a:latin typeface="Times New Roman" panose="02020603050405020304" pitchFamily="18" charset="0"/>
                <a:cs typeface="Times New Roman" panose="02020603050405020304" pitchFamily="18" charset="0"/>
              </a:rPr>
              <a:t>dataframe</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Supports multiple Excel formats.</a:t>
            </a:r>
          </a:p>
        </p:txBody>
      </p:sp>
      <p:sp>
        <p:nvSpPr>
          <p:cNvPr id="7" name="TextBox 6">
            <a:extLst>
              <a:ext uri="{FF2B5EF4-FFF2-40B4-BE49-F238E27FC236}">
                <a16:creationId xmlns:a16="http://schemas.microsoft.com/office/drawing/2014/main" id="{20A511BA-24A6-069D-F0C8-14A18D1E4018}"/>
              </a:ext>
            </a:extLst>
          </p:cNvPr>
          <p:cNvSpPr txBox="1"/>
          <p:nvPr/>
        </p:nvSpPr>
        <p:spPr>
          <a:xfrm>
            <a:off x="8603226" y="1272708"/>
            <a:ext cx="3588774" cy="2031325"/>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File Validation</a:t>
            </a:r>
          </a:p>
          <a:p>
            <a:r>
              <a:rPr lang="en-US" sz="1400" dirty="0">
                <a:latin typeface="Times New Roman" panose="02020603050405020304" pitchFamily="18" charset="0"/>
                <a:cs typeface="Times New Roman" panose="02020603050405020304" pitchFamily="18" charset="0"/>
              </a:rPr>
              <a:t>System checks whether file is selected: Displays error if file path is missing.</a:t>
            </a:r>
          </a:p>
          <a:p>
            <a:endParaRPr lang="en-US" sz="1400" dirty="0">
              <a:latin typeface="Times New Roman" panose="02020603050405020304" pitchFamily="18" charset="0"/>
              <a:cs typeface="Times New Roman" panose="02020603050405020304" pitchFamily="18" charset="0"/>
            </a:endParaRPr>
          </a:p>
          <a:p>
            <a:r>
              <a:rPr lang="en-US" sz="1400" i="1" dirty="0">
                <a:latin typeface="Times New Roman" panose="02020603050405020304" pitchFamily="18" charset="0"/>
                <a:cs typeface="Times New Roman" panose="02020603050405020304" pitchFamily="18" charset="0"/>
              </a:rPr>
              <a:t>if not </a:t>
            </a:r>
            <a:r>
              <a:rPr lang="en-US" sz="1400" i="1" dirty="0" err="1">
                <a:latin typeface="Times New Roman" panose="02020603050405020304" pitchFamily="18" charset="0"/>
                <a:cs typeface="Times New Roman" panose="02020603050405020304" pitchFamily="18" charset="0"/>
              </a:rPr>
              <a:t>file_path</a:t>
            </a:r>
            <a:r>
              <a:rPr lang="en-US" sz="1400" i="1" dirty="0">
                <a:latin typeface="Times New Roman" panose="02020603050405020304" pitchFamily="18" charset="0"/>
                <a:cs typeface="Times New Roman" panose="02020603050405020304" pitchFamily="18" charset="0"/>
              </a:rPr>
              <a:t>:</a:t>
            </a:r>
          </a:p>
          <a:p>
            <a:pPr lvl="1"/>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rPr>
              <a:t>messagebox.showerror</a:t>
            </a:r>
            <a:r>
              <a:rPr lang="en-US" sz="1400" i="1" dirty="0">
                <a:latin typeface="Times New Roman" panose="02020603050405020304" pitchFamily="18" charset="0"/>
                <a:cs typeface="Times New Roman" panose="02020603050405020304" pitchFamily="18" charset="0"/>
              </a:rPr>
              <a:t>("Error", "Please select Excel file")</a:t>
            </a:r>
          </a:p>
          <a:p>
            <a:pPr lvl="1"/>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Prevents processing without input data.</a:t>
            </a:r>
          </a:p>
        </p:txBody>
      </p:sp>
      <p:sp>
        <p:nvSpPr>
          <p:cNvPr id="9" name="TextBox 8">
            <a:extLst>
              <a:ext uri="{FF2B5EF4-FFF2-40B4-BE49-F238E27FC236}">
                <a16:creationId xmlns:a16="http://schemas.microsoft.com/office/drawing/2014/main" id="{47C76694-90CE-7599-E9C1-95C30C4273F5}"/>
              </a:ext>
            </a:extLst>
          </p:cNvPr>
          <p:cNvSpPr txBox="1"/>
          <p:nvPr/>
        </p:nvSpPr>
        <p:spPr>
          <a:xfrm>
            <a:off x="6304934" y="4175924"/>
            <a:ext cx="4232171" cy="2246769"/>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Column Validation</a:t>
            </a:r>
          </a:p>
          <a:p>
            <a:r>
              <a:rPr lang="en-US" sz="1400" dirty="0">
                <a:latin typeface="Times New Roman" panose="02020603050405020304" pitchFamily="18" charset="0"/>
                <a:cs typeface="Times New Roman" panose="02020603050405020304" pitchFamily="18" charset="0"/>
              </a:rPr>
              <a:t>Column names standardized using normalization: Removes special characters and converts to uppercase.</a:t>
            </a:r>
          </a:p>
          <a:p>
            <a:endParaRPr lang="en-US" sz="1400" dirty="0">
              <a:latin typeface="Times New Roman" panose="02020603050405020304" pitchFamily="18" charset="0"/>
              <a:cs typeface="Times New Roman" panose="02020603050405020304" pitchFamily="18" charset="0"/>
            </a:endParaRPr>
          </a:p>
          <a:p>
            <a:r>
              <a:rPr lang="it-IT" sz="1400" i="1" dirty="0">
                <a:latin typeface="Times New Roman" panose="02020603050405020304" pitchFamily="18" charset="0"/>
                <a:cs typeface="Times New Roman" panose="02020603050405020304" pitchFamily="18" charset="0"/>
              </a:rPr>
              <a:t>def normalize(col):</a:t>
            </a:r>
          </a:p>
          <a:p>
            <a:r>
              <a:rPr lang="it-IT" sz="1400" i="1" dirty="0">
                <a:latin typeface="Times New Roman" panose="02020603050405020304" pitchFamily="18" charset="0"/>
                <a:cs typeface="Times New Roman" panose="02020603050405020304" pitchFamily="18" charset="0"/>
              </a:rPr>
              <a:t>    return re.sub(r"[^A-Z0-9]", "", str(col).upper())</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Required columns verified before processing.</a:t>
            </a:r>
          </a:p>
          <a:p>
            <a:r>
              <a:rPr lang="en-US" sz="1400" dirty="0">
                <a:latin typeface="Times New Roman" panose="02020603050405020304" pitchFamily="18" charset="0"/>
                <a:cs typeface="Times New Roman" panose="02020603050405020304" pitchFamily="18" charset="0"/>
              </a:rPr>
              <a:t>Ensures correct parameters and handles inconsistent column names.</a:t>
            </a:r>
          </a:p>
        </p:txBody>
      </p:sp>
      <p:sp>
        <p:nvSpPr>
          <p:cNvPr id="11" name="TextBox 10">
            <a:extLst>
              <a:ext uri="{FF2B5EF4-FFF2-40B4-BE49-F238E27FC236}">
                <a16:creationId xmlns:a16="http://schemas.microsoft.com/office/drawing/2014/main" id="{82A521DB-FD94-0D51-5D4C-01BF11953801}"/>
              </a:ext>
            </a:extLst>
          </p:cNvPr>
          <p:cNvSpPr txBox="1"/>
          <p:nvPr/>
        </p:nvSpPr>
        <p:spPr>
          <a:xfrm>
            <a:off x="1949860" y="4437946"/>
            <a:ext cx="4203290" cy="1600438"/>
          </a:xfrm>
          <a:prstGeom prst="rect">
            <a:avLst/>
          </a:prstGeom>
          <a:noFill/>
        </p:spPr>
        <p:txBody>
          <a:bodyPr wrap="square">
            <a:spAutoFit/>
          </a:bodyPr>
          <a:lstStyle/>
          <a:p>
            <a:r>
              <a:rPr lang="en-US" sz="1400" b="1" dirty="0">
                <a:latin typeface="Times New Roman" panose="02020603050405020304" pitchFamily="18" charset="0"/>
                <a:cs typeface="Times New Roman" panose="02020603050405020304" pitchFamily="18" charset="0"/>
              </a:rPr>
              <a:t>Date–Time Validation</a:t>
            </a:r>
          </a:p>
          <a:p>
            <a:r>
              <a:rPr lang="en-US" sz="1400" dirty="0">
                <a:latin typeface="Times New Roman" panose="02020603050405020304" pitchFamily="18" charset="0"/>
                <a:cs typeface="Times New Roman" panose="02020603050405020304" pitchFamily="18" charset="0"/>
              </a:rPr>
              <a:t>User date and time converted to standard format:</a:t>
            </a:r>
          </a:p>
          <a:p>
            <a:pPr lvl="1"/>
            <a:r>
              <a:rPr lang="en-US" sz="1400" i="1" dirty="0" err="1">
                <a:latin typeface="Times New Roman" panose="02020603050405020304" pitchFamily="18" charset="0"/>
                <a:cs typeface="Times New Roman" panose="02020603050405020304" pitchFamily="18" charset="0"/>
              </a:rPr>
              <a:t>user_datetime</a:t>
            </a:r>
            <a:r>
              <a:rPr lang="en-US" sz="1400" i="1" dirty="0">
                <a:latin typeface="Times New Roman" panose="02020603050405020304" pitchFamily="18" charset="0"/>
                <a:cs typeface="Times New Roman" panose="02020603050405020304" pitchFamily="18" charset="0"/>
              </a:rPr>
              <a:t> = </a:t>
            </a:r>
            <a:r>
              <a:rPr lang="en-US" sz="1400" i="1" dirty="0" err="1">
                <a:latin typeface="Times New Roman" panose="02020603050405020304" pitchFamily="18" charset="0"/>
                <a:cs typeface="Times New Roman" panose="02020603050405020304" pitchFamily="18" charset="0"/>
              </a:rPr>
              <a:t>datetime.strptime</a:t>
            </a:r>
            <a:r>
              <a:rPr lang="en-US" sz="1400" i="1" dirty="0">
                <a:latin typeface="Times New Roman" panose="02020603050405020304" pitchFamily="18" charset="0"/>
                <a:cs typeface="Times New Roman" panose="02020603050405020304" pitchFamily="18" charset="0"/>
              </a:rPr>
              <a:t>(</a:t>
            </a:r>
          </a:p>
          <a:p>
            <a:pPr lvl="1"/>
            <a:r>
              <a:rPr lang="en-US" sz="1400" i="1" dirty="0">
                <a:latin typeface="Times New Roman" panose="02020603050405020304" pitchFamily="18" charset="0"/>
                <a:cs typeface="Times New Roman" panose="02020603050405020304" pitchFamily="18" charset="0"/>
              </a:rPr>
              <a:t>    f"{</a:t>
            </a:r>
            <a:r>
              <a:rPr lang="en-US" sz="1400" i="1" dirty="0" err="1">
                <a:latin typeface="Times New Roman" panose="02020603050405020304" pitchFamily="18" charset="0"/>
                <a:cs typeface="Times New Roman" panose="02020603050405020304" pitchFamily="18" charset="0"/>
              </a:rPr>
              <a:t>user_date</a:t>
            </a:r>
            <a:r>
              <a:rPr lang="en-US" sz="1400" i="1" dirty="0">
                <a:latin typeface="Times New Roman" panose="02020603050405020304" pitchFamily="18" charset="0"/>
                <a:cs typeface="Times New Roman" panose="02020603050405020304" pitchFamily="18" charset="0"/>
              </a:rPr>
              <a:t>} {</a:t>
            </a:r>
            <a:r>
              <a:rPr lang="en-US" sz="1400" i="1" dirty="0" err="1">
                <a:latin typeface="Times New Roman" panose="02020603050405020304" pitchFamily="18" charset="0"/>
                <a:cs typeface="Times New Roman" panose="02020603050405020304" pitchFamily="18" charset="0"/>
              </a:rPr>
              <a:t>user_time</a:t>
            </a:r>
            <a:r>
              <a:rPr lang="en-US" sz="1400" i="1" dirty="0">
                <a:latin typeface="Times New Roman" panose="02020603050405020304" pitchFamily="18" charset="0"/>
                <a:cs typeface="Times New Roman" panose="02020603050405020304" pitchFamily="18" charset="0"/>
              </a:rPr>
              <a:t>}",</a:t>
            </a:r>
          </a:p>
          <a:p>
            <a:pPr lvl="1"/>
            <a:r>
              <a:rPr lang="en-US" sz="1400" i="1" dirty="0">
                <a:latin typeface="Times New Roman" panose="02020603050405020304" pitchFamily="18" charset="0"/>
                <a:cs typeface="Times New Roman" panose="02020603050405020304" pitchFamily="18" charset="0"/>
              </a:rPr>
              <a:t>    "%d-%m-%Y %H:%M:%S"</a:t>
            </a:r>
          </a:p>
          <a:p>
            <a:pPr lvl="1"/>
            <a:r>
              <a:rPr lang="en-US" sz="1400" i="1"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Invalid format triggers error message.</a:t>
            </a:r>
          </a:p>
        </p:txBody>
      </p:sp>
      <p:sp>
        <p:nvSpPr>
          <p:cNvPr id="14" name="Rectangle 13">
            <a:extLst>
              <a:ext uri="{FF2B5EF4-FFF2-40B4-BE49-F238E27FC236}">
                <a16:creationId xmlns:a16="http://schemas.microsoft.com/office/drawing/2014/main" id="{802EE7AA-FBF2-D3C9-1ACA-578CDDB94B42}"/>
              </a:ext>
            </a:extLst>
          </p:cNvPr>
          <p:cNvSpPr/>
          <p:nvPr/>
        </p:nvSpPr>
        <p:spPr>
          <a:xfrm>
            <a:off x="790267" y="1385127"/>
            <a:ext cx="3716592" cy="25957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FEE5701B-1D39-D54D-61C1-6576CC9F5D3A}"/>
              </a:ext>
            </a:extLst>
          </p:cNvPr>
          <p:cNvSpPr/>
          <p:nvPr/>
        </p:nvSpPr>
        <p:spPr>
          <a:xfrm>
            <a:off x="4919816" y="1707475"/>
            <a:ext cx="3008669" cy="177206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FD18686B-2854-25CD-9142-A1680C024D34}"/>
              </a:ext>
            </a:extLst>
          </p:cNvPr>
          <p:cNvSpPr/>
          <p:nvPr/>
        </p:nvSpPr>
        <p:spPr>
          <a:xfrm>
            <a:off x="6270523" y="4159344"/>
            <a:ext cx="4127090" cy="22799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C2EDD634-C4EE-1AE5-A7DB-F004A4C4125B}"/>
              </a:ext>
            </a:extLst>
          </p:cNvPr>
          <p:cNvSpPr/>
          <p:nvPr/>
        </p:nvSpPr>
        <p:spPr>
          <a:xfrm>
            <a:off x="8308260" y="1118183"/>
            <a:ext cx="3716592" cy="24120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B7F32FE4-422D-79CD-B6C2-E366885E48D4}"/>
              </a:ext>
            </a:extLst>
          </p:cNvPr>
          <p:cNvSpPr/>
          <p:nvPr/>
        </p:nvSpPr>
        <p:spPr>
          <a:xfrm>
            <a:off x="1920979" y="4441126"/>
            <a:ext cx="3716592" cy="16818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Arrow: Right 18">
            <a:extLst>
              <a:ext uri="{FF2B5EF4-FFF2-40B4-BE49-F238E27FC236}">
                <a16:creationId xmlns:a16="http://schemas.microsoft.com/office/drawing/2014/main" id="{A30EBB03-F143-D23B-BBAC-13FBB354E9DB}"/>
              </a:ext>
            </a:extLst>
          </p:cNvPr>
          <p:cNvSpPr/>
          <p:nvPr/>
        </p:nvSpPr>
        <p:spPr>
          <a:xfrm>
            <a:off x="4506857" y="2460113"/>
            <a:ext cx="368712" cy="26678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0" name="Arrow: Right 19">
            <a:extLst>
              <a:ext uri="{FF2B5EF4-FFF2-40B4-BE49-F238E27FC236}">
                <a16:creationId xmlns:a16="http://schemas.microsoft.com/office/drawing/2014/main" id="{42D50E57-6D23-6C2B-DC77-B771206FB90E}"/>
              </a:ext>
            </a:extLst>
          </p:cNvPr>
          <p:cNvSpPr/>
          <p:nvPr/>
        </p:nvSpPr>
        <p:spPr>
          <a:xfrm>
            <a:off x="7950610" y="2416195"/>
            <a:ext cx="368712" cy="26678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1" name="Arrow: Right 20">
            <a:extLst>
              <a:ext uri="{FF2B5EF4-FFF2-40B4-BE49-F238E27FC236}">
                <a16:creationId xmlns:a16="http://schemas.microsoft.com/office/drawing/2014/main" id="{A954C90D-026E-9968-36B0-3556E43F70B2}"/>
              </a:ext>
            </a:extLst>
          </p:cNvPr>
          <p:cNvSpPr/>
          <p:nvPr/>
        </p:nvSpPr>
        <p:spPr>
          <a:xfrm rot="5400000">
            <a:off x="9367607" y="3694693"/>
            <a:ext cx="617094" cy="31220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2" name="Arrow: Right 21">
            <a:extLst>
              <a:ext uri="{FF2B5EF4-FFF2-40B4-BE49-F238E27FC236}">
                <a16:creationId xmlns:a16="http://schemas.microsoft.com/office/drawing/2014/main" id="{DF9FD1C6-CC33-1FF2-130D-C66C0D56E52C}"/>
              </a:ext>
            </a:extLst>
          </p:cNvPr>
          <p:cNvSpPr/>
          <p:nvPr/>
        </p:nvSpPr>
        <p:spPr>
          <a:xfrm rot="10800000">
            <a:off x="5637571" y="5056059"/>
            <a:ext cx="637868" cy="302521"/>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09520CDE-984D-9919-381B-F99200C90832}"/>
              </a:ext>
            </a:extLst>
          </p:cNvPr>
          <p:cNvPicPr>
            <a:picLocks noChangeAspect="1"/>
          </p:cNvPicPr>
          <p:nvPr/>
        </p:nvPicPr>
        <p:blipFill>
          <a:blip r:embed="rId2"/>
          <a:stretch>
            <a:fillRect/>
          </a:stretch>
        </p:blipFill>
        <p:spPr bwMode="auto">
          <a:xfrm>
            <a:off x="391551" y="242095"/>
            <a:ext cx="1070281" cy="1064311"/>
          </a:xfrm>
          <a:prstGeom prst="rect">
            <a:avLst/>
          </a:prstGeom>
        </p:spPr>
      </p:pic>
    </p:spTree>
    <p:extLst>
      <p:ext uri="{BB962C8B-B14F-4D97-AF65-F5344CB8AC3E}">
        <p14:creationId xmlns:p14="http://schemas.microsoft.com/office/powerpoint/2010/main" val="1436629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84723-9644-EEC5-83F9-728C06B1B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721EE-6650-9587-6549-4D93004532F5}"/>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TABLE 1: ACCUMULATOR CHARGING</a:t>
            </a:r>
          </a:p>
        </p:txBody>
      </p:sp>
      <p:sp>
        <p:nvSpPr>
          <p:cNvPr id="3" name="Content Placeholder 2">
            <a:extLst>
              <a:ext uri="{FF2B5EF4-FFF2-40B4-BE49-F238E27FC236}">
                <a16:creationId xmlns:a16="http://schemas.microsoft.com/office/drawing/2014/main" id="{DA392D02-8CE2-7FAE-03B3-C3DA34FD0C6D}"/>
              </a:ext>
            </a:extLst>
          </p:cNvPr>
          <p:cNvSpPr>
            <a:spLocks noGrp="1"/>
          </p:cNvSpPr>
          <p:nvPr>
            <p:ph idx="1"/>
          </p:nvPr>
        </p:nvSpPr>
        <p:spPr>
          <a:xfrm>
            <a:off x="651389" y="1873312"/>
            <a:ext cx="5601928" cy="4450079"/>
          </a:xfrm>
        </p:spPr>
        <p:txBody>
          <a:bodyPr>
            <a:normAutofit/>
          </a:bodyPr>
          <a:lstStyle/>
          <a:p>
            <a:pPr marL="0" indent="0" algn="just">
              <a:buNone/>
            </a:pPr>
            <a:r>
              <a:rPr lang="en-US" sz="2000" b="1" dirty="0">
                <a:latin typeface="Times New Roman" panose="02020603050405020304" pitchFamily="18" charset="0"/>
                <a:cs typeface="Times New Roman" panose="02020603050405020304" pitchFamily="18" charset="0"/>
              </a:rPr>
              <a:t>Logic Overview:</a:t>
            </a:r>
            <a:r>
              <a:rPr lang="en-US" sz="2000" dirty="0">
                <a:latin typeface="Times New Roman" panose="02020603050405020304" pitchFamily="18" charset="0"/>
                <a:cs typeface="Times New Roman" panose="02020603050405020304" pitchFamily="18" charset="0"/>
              </a:rPr>
              <a:t> This table captures the state of the system at specific countdown milestones (e.g., T-20 min, T-10 min).</a:t>
            </a:r>
          </a:p>
          <a:p>
            <a:pPr marL="0" indent="0" algn="just">
              <a:buNone/>
            </a:pPr>
            <a:r>
              <a:rPr lang="en-US" sz="2000" b="1" dirty="0">
                <a:latin typeface="Times New Roman" panose="02020603050405020304" pitchFamily="18" charset="0"/>
                <a:cs typeface="Times New Roman" panose="02020603050405020304" pitchFamily="18" charset="0"/>
              </a:rPr>
              <a:t>Time Calculation:</a:t>
            </a:r>
            <a:r>
              <a:rPr lang="en-US" sz="2000" dirty="0">
                <a:latin typeface="Times New Roman" panose="02020603050405020304" pitchFamily="18" charset="0"/>
                <a:cs typeface="Times New Roman" panose="02020603050405020304" pitchFamily="18" charset="0"/>
              </a:rPr>
              <a:t> It takes the user-provided "Launch Date &amp; Time" and subtracts specific time deltas (Offsets) to find the target time.</a:t>
            </a:r>
          </a:p>
          <a:p>
            <a:pPr marL="0" indent="0" algn="just">
              <a:buNone/>
            </a:pPr>
            <a:r>
              <a:rPr lang="en-US" sz="2000" b="1" dirty="0">
                <a:latin typeface="Times New Roman" panose="02020603050405020304" pitchFamily="18" charset="0"/>
                <a:cs typeface="Times New Roman" panose="02020603050405020304" pitchFamily="18" charset="0"/>
              </a:rPr>
              <a:t>Nearest Neighbor Search:</a:t>
            </a:r>
            <a:r>
              <a:rPr lang="en-US" sz="2000" dirty="0">
                <a:latin typeface="Times New Roman" panose="02020603050405020304" pitchFamily="18" charset="0"/>
                <a:cs typeface="Times New Roman" panose="02020603050405020304" pitchFamily="18" charset="0"/>
              </a:rPr>
              <a:t> It searches the Excel data for the row with a timestamp closest to (but not exceeding) that target time.</a:t>
            </a:r>
          </a:p>
          <a:p>
            <a:pPr marL="0" indent="0" algn="just">
              <a:buNone/>
            </a:pPr>
            <a:r>
              <a:rPr lang="en-US" sz="2000" b="1" dirty="0">
                <a:latin typeface="Times New Roman" panose="02020603050405020304" pitchFamily="18" charset="0"/>
                <a:cs typeface="Times New Roman" panose="02020603050405020304" pitchFamily="18" charset="0"/>
              </a:rPr>
              <a:t>Data Extraction:</a:t>
            </a:r>
            <a:r>
              <a:rPr lang="en-US" sz="2000" dirty="0">
                <a:latin typeface="Times New Roman" panose="02020603050405020304" pitchFamily="18" charset="0"/>
                <a:cs typeface="Times New Roman" panose="02020603050405020304" pitchFamily="18" charset="0"/>
              </a:rPr>
              <a:t> It pulls specific pressure values (Header &amp; Pivot pressures) for that timestamp.</a:t>
            </a:r>
          </a:p>
          <a:p>
            <a:pPr marL="0" indent="0" algn="just">
              <a:buNone/>
            </a:pPr>
            <a:endParaRPr lang="en-IN" sz="20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BF528070-171F-279F-D6CB-B8B8FDD346FC}"/>
              </a:ext>
            </a:extLst>
          </p:cNvPr>
          <p:cNvGraphicFramePr>
            <a:graphicFrameLocks noGrp="1"/>
          </p:cNvGraphicFramePr>
          <p:nvPr>
            <p:extLst>
              <p:ext uri="{D42A27DB-BD31-4B8C-83A1-F6EECF244321}">
                <p14:modId xmlns:p14="http://schemas.microsoft.com/office/powerpoint/2010/main" val="845973086"/>
              </p:ext>
            </p:extLst>
          </p:nvPr>
        </p:nvGraphicFramePr>
        <p:xfrm>
          <a:off x="6341807" y="1563330"/>
          <a:ext cx="5464275" cy="4942686"/>
        </p:xfrm>
        <a:graphic>
          <a:graphicData uri="http://schemas.openxmlformats.org/drawingml/2006/table">
            <a:tbl>
              <a:tblPr/>
              <a:tblGrid>
                <a:gridCol w="1821425">
                  <a:extLst>
                    <a:ext uri="{9D8B030D-6E8A-4147-A177-3AD203B41FA5}">
                      <a16:colId xmlns:a16="http://schemas.microsoft.com/office/drawing/2014/main" val="492380969"/>
                    </a:ext>
                  </a:extLst>
                </a:gridCol>
                <a:gridCol w="1821425">
                  <a:extLst>
                    <a:ext uri="{9D8B030D-6E8A-4147-A177-3AD203B41FA5}">
                      <a16:colId xmlns:a16="http://schemas.microsoft.com/office/drawing/2014/main" val="2406230994"/>
                    </a:ext>
                  </a:extLst>
                </a:gridCol>
                <a:gridCol w="1821425">
                  <a:extLst>
                    <a:ext uri="{9D8B030D-6E8A-4147-A177-3AD203B41FA5}">
                      <a16:colId xmlns:a16="http://schemas.microsoft.com/office/drawing/2014/main" val="284525328"/>
                    </a:ext>
                  </a:extLst>
                </a:gridCol>
              </a:tblGrid>
              <a:tr h="761169">
                <a:tc>
                  <a:txBody>
                    <a:bodyPr/>
                    <a:lstStyle/>
                    <a:p>
                      <a:pPr rtl="0">
                        <a:buNone/>
                      </a:pPr>
                      <a:r>
                        <a:rPr lang="en-IN" sz="2000" b="1">
                          <a:solidFill>
                            <a:srgbClr val="1F1F1F"/>
                          </a:solidFill>
                          <a:effectLst/>
                          <a:latin typeface="Google Sans Text"/>
                        </a:rPr>
                        <a:t>Report Column</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Excel Column Source</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b="1">
                          <a:solidFill>
                            <a:srgbClr val="1F1F1F"/>
                          </a:solidFill>
                          <a:effectLst/>
                          <a:latin typeface="Google Sans Text"/>
                        </a:rPr>
                        <a:t>Logic</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65074182"/>
                  </a:ext>
                </a:extLst>
              </a:tr>
              <a:tr h="1072557">
                <a:tc>
                  <a:txBody>
                    <a:bodyPr/>
                    <a:lstStyle/>
                    <a:p>
                      <a:pPr rtl="0">
                        <a:buNone/>
                      </a:pPr>
                      <a:r>
                        <a:rPr lang="en-IN" sz="2000" b="1" dirty="0">
                          <a:solidFill>
                            <a:srgbClr val="1F1F1F"/>
                          </a:solidFill>
                          <a:effectLst/>
                          <a:latin typeface="Google Sans Text"/>
                        </a:rPr>
                        <a:t>Ref. Time</a:t>
                      </a:r>
                      <a:endParaRPr lang="en-IN" sz="20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dirty="0">
                          <a:solidFill>
                            <a:srgbClr val="1F1F1F"/>
                          </a:solidFill>
                          <a:effectLst/>
                          <a:latin typeface="Google Sans Text"/>
                        </a:rPr>
                        <a:t>Calculated (</a:t>
                      </a:r>
                      <a:r>
                        <a:rPr lang="en-IN" sz="2000" dirty="0">
                          <a:solidFill>
                            <a:srgbClr val="444746"/>
                          </a:solidFill>
                          <a:effectLst/>
                          <a:latin typeface="Google Sans Text"/>
                        </a:rPr>
                        <a:t>Launch Time - Offset</a:t>
                      </a:r>
                      <a:r>
                        <a:rPr lang="en-IN" sz="2000" dirty="0">
                          <a:solidFill>
                            <a:srgbClr val="1F1F1F"/>
                          </a:solidFill>
                          <a:effectLst/>
                          <a:latin typeface="Google Sans Text"/>
                        </a:rPr>
                        <a: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a:solidFill>
                            <a:srgbClr val="1F1F1F"/>
                          </a:solidFill>
                          <a:effectLst/>
                          <a:latin typeface="Google Sans Text"/>
                        </a:rPr>
                        <a:t>e.g., T-20 min, T-10 min</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13327062"/>
                  </a:ext>
                </a:extLst>
              </a:tr>
              <a:tr h="761169">
                <a:tc>
                  <a:txBody>
                    <a:bodyPr/>
                    <a:lstStyle/>
                    <a:p>
                      <a:pPr rtl="0">
                        <a:buNone/>
                      </a:pPr>
                      <a:r>
                        <a:rPr lang="en-IN" sz="2000" b="1" dirty="0">
                          <a:solidFill>
                            <a:srgbClr val="1F1F1F"/>
                          </a:solidFill>
                          <a:effectLst/>
                          <a:latin typeface="Google Sans Text"/>
                        </a:rPr>
                        <a:t>Header Pressure</a:t>
                      </a:r>
                      <a:endParaRPr lang="en-IN" sz="20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a:solidFill>
                            <a:srgbClr val="444746"/>
                          </a:solidFill>
                          <a:effectLst/>
                          <a:latin typeface="Google Sans Text"/>
                        </a:rPr>
                        <a:t>LOX_HDR1</a:t>
                      </a:r>
                      <a:r>
                        <a:rPr lang="en-IN" sz="2000">
                          <a:solidFill>
                            <a:srgbClr val="1F1F1F"/>
                          </a:solidFill>
                          <a:effectLst/>
                          <a:latin typeface="Google Sans Text"/>
                        </a:rPr>
                        <a:t>, </a:t>
                      </a:r>
                      <a:r>
                        <a:rPr lang="en-IN" sz="2000">
                          <a:solidFill>
                            <a:srgbClr val="444746"/>
                          </a:solidFill>
                          <a:effectLst/>
                          <a:latin typeface="Google Sans Text"/>
                        </a:rPr>
                        <a:t>LH2_HDR1</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a:solidFill>
                            <a:srgbClr val="1F1F1F"/>
                          </a:solidFill>
                          <a:effectLst/>
                          <a:latin typeface="Google Sans Text"/>
                        </a:rPr>
                        <a:t>Value at nearest timestamp</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91647181"/>
                  </a:ext>
                </a:extLst>
              </a:tr>
              <a:tr h="761169">
                <a:tc>
                  <a:txBody>
                    <a:bodyPr/>
                    <a:lstStyle/>
                    <a:p>
                      <a:pPr rtl="0">
                        <a:buNone/>
                      </a:pPr>
                      <a:r>
                        <a:rPr lang="en-IN" sz="2000" b="1">
                          <a:solidFill>
                            <a:srgbClr val="1F1F1F"/>
                          </a:solidFill>
                          <a:effectLst/>
                          <a:latin typeface="Google Sans Text"/>
                        </a:rPr>
                        <a:t>Pivot 1 Pressure</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a:solidFill>
                            <a:srgbClr val="444746"/>
                          </a:solidFill>
                          <a:effectLst/>
                          <a:latin typeface="Google Sans Text"/>
                        </a:rPr>
                        <a:t>LOX_PVT1</a:t>
                      </a:r>
                      <a:r>
                        <a:rPr lang="en-IN" sz="2000">
                          <a:solidFill>
                            <a:srgbClr val="1F1F1F"/>
                          </a:solidFill>
                          <a:effectLst/>
                          <a:latin typeface="Google Sans Text"/>
                        </a:rPr>
                        <a:t>, </a:t>
                      </a:r>
                      <a:r>
                        <a:rPr lang="en-IN" sz="2000">
                          <a:solidFill>
                            <a:srgbClr val="444746"/>
                          </a:solidFill>
                          <a:effectLst/>
                          <a:latin typeface="Google Sans Text"/>
                        </a:rPr>
                        <a:t>LH2_PVT1</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a:solidFill>
                            <a:srgbClr val="1F1F1F"/>
                          </a:solidFill>
                          <a:effectLst/>
                          <a:latin typeface="Google Sans Text"/>
                        </a:rPr>
                        <a:t>Value at nearest timestamp</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4793827"/>
                  </a:ext>
                </a:extLst>
              </a:tr>
              <a:tr h="761169">
                <a:tc>
                  <a:txBody>
                    <a:bodyPr/>
                    <a:lstStyle/>
                    <a:p>
                      <a:pPr rtl="0">
                        <a:buNone/>
                      </a:pPr>
                      <a:r>
                        <a:rPr lang="en-IN" sz="2000" b="1">
                          <a:solidFill>
                            <a:srgbClr val="1F1F1F"/>
                          </a:solidFill>
                          <a:effectLst/>
                          <a:latin typeface="Google Sans Text"/>
                        </a:rPr>
                        <a:t>Pivot 2 Pressure</a:t>
                      </a:r>
                      <a:endParaRPr lang="en-IN" sz="200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dirty="0">
                          <a:solidFill>
                            <a:srgbClr val="444746"/>
                          </a:solidFill>
                          <a:effectLst/>
                          <a:latin typeface="Google Sans Text"/>
                        </a:rPr>
                        <a:t>LOX_PVT2</a:t>
                      </a:r>
                      <a:r>
                        <a:rPr lang="en-IN" sz="2000" dirty="0">
                          <a:solidFill>
                            <a:srgbClr val="1F1F1F"/>
                          </a:solidFill>
                          <a:effectLst/>
                          <a:latin typeface="Google Sans Text"/>
                        </a:rPr>
                        <a:t>, </a:t>
                      </a:r>
                      <a:r>
                        <a:rPr lang="en-IN" sz="2000" dirty="0">
                          <a:solidFill>
                            <a:srgbClr val="444746"/>
                          </a:solidFill>
                          <a:effectLst/>
                          <a:latin typeface="Google Sans Text"/>
                        </a:rPr>
                        <a:t>LH2_PVT2</a:t>
                      </a:r>
                      <a:endParaRPr lang="en-IN" sz="2000"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2000" dirty="0">
                          <a:solidFill>
                            <a:srgbClr val="1F1F1F"/>
                          </a:solidFill>
                          <a:effectLst/>
                          <a:latin typeface="Google Sans Text"/>
                        </a:rPr>
                        <a:t>Value at nearest timestamp</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72852185"/>
                  </a:ext>
                </a:extLst>
              </a:tr>
            </a:tbl>
          </a:graphicData>
        </a:graphic>
      </p:graphicFrame>
      <p:pic>
        <p:nvPicPr>
          <p:cNvPr id="5" name="Picture 4">
            <a:extLst>
              <a:ext uri="{FF2B5EF4-FFF2-40B4-BE49-F238E27FC236}">
                <a16:creationId xmlns:a16="http://schemas.microsoft.com/office/drawing/2014/main" id="{E06148D2-15E9-56C0-4BF6-D186CB55486C}"/>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2151300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629FE-DF6C-6995-E415-6858745E9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1775E-34C8-F2BB-4C52-803B4AFC7C1D}"/>
              </a:ext>
            </a:extLst>
          </p:cNvPr>
          <p:cNvSpPr>
            <a:spLocks noGrp="1"/>
          </p:cNvSpPr>
          <p:nvPr>
            <p:ph type="title"/>
          </p:nvPr>
        </p:nvSpPr>
        <p:spPr>
          <a:xfrm>
            <a:off x="1192161" y="236839"/>
            <a:ext cx="10872019"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TABLE 2: ACCUMULATOR CHARGING TIMINGS</a:t>
            </a:r>
          </a:p>
        </p:txBody>
      </p:sp>
      <p:sp>
        <p:nvSpPr>
          <p:cNvPr id="3" name="Content Placeholder 2">
            <a:extLst>
              <a:ext uri="{FF2B5EF4-FFF2-40B4-BE49-F238E27FC236}">
                <a16:creationId xmlns:a16="http://schemas.microsoft.com/office/drawing/2014/main" id="{95BB93FC-FEDF-3C67-2925-0EA14A3B8C9C}"/>
              </a:ext>
            </a:extLst>
          </p:cNvPr>
          <p:cNvSpPr>
            <a:spLocks noGrp="1"/>
          </p:cNvSpPr>
          <p:nvPr>
            <p:ph idx="1"/>
          </p:nvPr>
        </p:nvSpPr>
        <p:spPr>
          <a:xfrm>
            <a:off x="513735" y="1718785"/>
            <a:ext cx="4510549" cy="4774090"/>
          </a:xfrm>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Logic Overview:</a:t>
            </a:r>
            <a:r>
              <a:rPr lang="en-US" sz="1800" dirty="0">
                <a:latin typeface="Times New Roman" panose="02020603050405020304" pitchFamily="18" charset="0"/>
                <a:cs typeface="Times New Roman" panose="02020603050405020304" pitchFamily="18" charset="0"/>
              </a:rPr>
              <a:t> This table maps the cyclic charging and discharging events to a predefined sequence of pressure steps (e.g., 0-230 bar, 0-160 bar)</a:t>
            </a:r>
          </a:p>
          <a:p>
            <a:pPr marL="0" indent="0" algn="just">
              <a:buNone/>
            </a:pPr>
            <a:r>
              <a:rPr lang="en-US" sz="1800" b="1" dirty="0">
                <a:latin typeface="Times New Roman" panose="02020603050405020304" pitchFamily="18" charset="0"/>
                <a:cs typeface="Times New Roman" panose="02020603050405020304" pitchFamily="18" charset="0"/>
              </a:rPr>
              <a:t>Data Retrieval:</a:t>
            </a:r>
            <a:r>
              <a:rPr lang="en-US" sz="1800" dirty="0">
                <a:latin typeface="Times New Roman" panose="02020603050405020304" pitchFamily="18" charset="0"/>
                <a:cs typeface="Times New Roman" panose="02020603050405020304" pitchFamily="18" charset="0"/>
              </a:rPr>
              <a:t> Reads columns like LOX_CHG_TIME and LOX_DISCHG_TIME into lists.</a:t>
            </a:r>
          </a:p>
          <a:p>
            <a:pPr marL="0" indent="0" algn="just">
              <a:buNone/>
            </a:pPr>
            <a:r>
              <a:rPr lang="en-US" sz="1800" b="1" dirty="0">
                <a:latin typeface="Times New Roman" panose="02020603050405020304" pitchFamily="18" charset="0"/>
                <a:cs typeface="Times New Roman" panose="02020603050405020304" pitchFamily="18" charset="0"/>
              </a:rPr>
              <a:t>Step Mapping:</a:t>
            </a:r>
            <a:r>
              <a:rPr lang="en-US" sz="1800" dirty="0">
                <a:latin typeface="Times New Roman" panose="02020603050405020304" pitchFamily="18" charset="0"/>
                <a:cs typeface="Times New Roman" panose="02020603050405020304" pitchFamily="18" charset="0"/>
              </a:rPr>
              <a:t> Defines a fixed list of steps (steps array).</a:t>
            </a:r>
          </a:p>
          <a:p>
            <a:pPr marL="0" indent="0" algn="just">
              <a:buNone/>
            </a:pPr>
            <a:r>
              <a:rPr lang="en-US" sz="1800" b="1" dirty="0">
                <a:latin typeface="Times New Roman" panose="02020603050405020304" pitchFamily="18" charset="0"/>
                <a:cs typeface="Times New Roman" panose="02020603050405020304" pitchFamily="18" charset="0"/>
              </a:rPr>
              <a:t>Sequential Filling:</a:t>
            </a:r>
            <a:r>
              <a:rPr lang="en-US" sz="1800" dirty="0">
                <a:latin typeface="Times New Roman" panose="02020603050405020304" pitchFamily="18" charset="0"/>
                <a:cs typeface="Times New Roman" panose="02020603050405020304" pitchFamily="18" charset="0"/>
              </a:rPr>
              <a:t> It iterates through the step list. If the step implies charging ("180-230"), it pulls from the Charge list. If it implies discharging ("230-180"), it pulls from the Discharge list.</a:t>
            </a:r>
          </a:p>
          <a:p>
            <a:pPr marL="0" indent="0" algn="just">
              <a:buNone/>
            </a:pPr>
            <a:r>
              <a:rPr lang="en-US" sz="1800" b="1" dirty="0">
                <a:latin typeface="Times New Roman" panose="02020603050405020304" pitchFamily="18" charset="0"/>
                <a:cs typeface="Times New Roman" panose="02020603050405020304" pitchFamily="18" charset="0"/>
              </a:rPr>
              <a:t>PLC Conversion:</a:t>
            </a:r>
            <a:r>
              <a:rPr lang="en-US" sz="1800" dirty="0">
                <a:latin typeface="Times New Roman" panose="02020603050405020304" pitchFamily="18" charset="0"/>
                <a:cs typeface="Times New Roman" panose="02020603050405020304" pitchFamily="18" charset="0"/>
              </a:rPr>
              <a:t> Converts raw PLC integers into HH:MM:SS:MS format.</a:t>
            </a:r>
          </a:p>
        </p:txBody>
      </p:sp>
      <p:graphicFrame>
        <p:nvGraphicFramePr>
          <p:cNvPr id="4" name="Table 3">
            <a:extLst>
              <a:ext uri="{FF2B5EF4-FFF2-40B4-BE49-F238E27FC236}">
                <a16:creationId xmlns:a16="http://schemas.microsoft.com/office/drawing/2014/main" id="{C21D22CF-31AA-D03B-C353-01D96150059B}"/>
              </a:ext>
            </a:extLst>
          </p:cNvPr>
          <p:cNvGraphicFramePr>
            <a:graphicFrameLocks noGrp="1"/>
          </p:cNvGraphicFramePr>
          <p:nvPr>
            <p:extLst>
              <p:ext uri="{D42A27DB-BD31-4B8C-83A1-F6EECF244321}">
                <p14:modId xmlns:p14="http://schemas.microsoft.com/office/powerpoint/2010/main" val="4062406356"/>
              </p:ext>
            </p:extLst>
          </p:nvPr>
        </p:nvGraphicFramePr>
        <p:xfrm>
          <a:off x="5260258" y="1562402"/>
          <a:ext cx="6803922" cy="4774091"/>
        </p:xfrm>
        <a:graphic>
          <a:graphicData uri="http://schemas.openxmlformats.org/drawingml/2006/table">
            <a:tbl>
              <a:tblPr/>
              <a:tblGrid>
                <a:gridCol w="2267974">
                  <a:extLst>
                    <a:ext uri="{9D8B030D-6E8A-4147-A177-3AD203B41FA5}">
                      <a16:colId xmlns:a16="http://schemas.microsoft.com/office/drawing/2014/main" val="234716125"/>
                    </a:ext>
                  </a:extLst>
                </a:gridCol>
                <a:gridCol w="2267974">
                  <a:extLst>
                    <a:ext uri="{9D8B030D-6E8A-4147-A177-3AD203B41FA5}">
                      <a16:colId xmlns:a16="http://schemas.microsoft.com/office/drawing/2014/main" val="1807366683"/>
                    </a:ext>
                  </a:extLst>
                </a:gridCol>
                <a:gridCol w="2267974">
                  <a:extLst>
                    <a:ext uri="{9D8B030D-6E8A-4147-A177-3AD203B41FA5}">
                      <a16:colId xmlns:a16="http://schemas.microsoft.com/office/drawing/2014/main" val="909149842"/>
                    </a:ext>
                  </a:extLst>
                </a:gridCol>
              </a:tblGrid>
              <a:tr h="894303">
                <a:tc>
                  <a:txBody>
                    <a:bodyPr/>
                    <a:lstStyle/>
                    <a:p>
                      <a:pPr rtl="0">
                        <a:buNone/>
                      </a:pPr>
                      <a:r>
                        <a:rPr lang="en-IN" b="1" dirty="0">
                          <a:solidFill>
                            <a:srgbClr val="1F1F1F"/>
                          </a:solidFill>
                          <a:effectLst/>
                          <a:latin typeface="Google Sans Text"/>
                        </a:rPr>
                        <a:t>Cycle Step (Row)</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Excel Column Source (List Index)</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Description</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90217232"/>
                  </a:ext>
                </a:extLst>
              </a:tr>
              <a:tr h="634667">
                <a:tc>
                  <a:txBody>
                    <a:bodyPr/>
                    <a:lstStyle/>
                    <a:p>
                      <a:pPr rtl="0">
                        <a:buNone/>
                      </a:pPr>
                      <a:r>
                        <a:rPr lang="en-IN" b="1" dirty="0">
                          <a:solidFill>
                            <a:srgbClr val="1F1F1F"/>
                          </a:solidFill>
                          <a:effectLst/>
                          <a:latin typeface="Google Sans Text"/>
                        </a:rPr>
                        <a:t>1. 0-230 bar</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LOX_CHG_TIME[0]</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First Initial Charge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3750155"/>
                  </a:ext>
                </a:extLst>
              </a:tr>
              <a:tr h="634667">
                <a:tc>
                  <a:txBody>
                    <a:bodyPr/>
                    <a:lstStyle/>
                    <a:p>
                      <a:pPr rtl="0">
                        <a:buNone/>
                      </a:pPr>
                      <a:r>
                        <a:rPr lang="en-IN" b="1">
                          <a:solidFill>
                            <a:srgbClr val="1F1F1F"/>
                          </a:solidFill>
                          <a:effectLst/>
                          <a:latin typeface="Google Sans Text"/>
                        </a:rPr>
                        <a:t>2. 230-180 bar</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dirty="0">
                          <a:solidFill>
                            <a:srgbClr val="444746"/>
                          </a:solidFill>
                          <a:effectLst/>
                          <a:latin typeface="Google Sans Text"/>
                        </a:rPr>
                        <a:t>LOX_DISCHG_TIME[0]</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First Discharge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71686168"/>
                  </a:ext>
                </a:extLst>
              </a:tr>
              <a:tr h="634667">
                <a:tc>
                  <a:txBody>
                    <a:bodyPr/>
                    <a:lstStyle/>
                    <a:p>
                      <a:pPr rtl="0">
                        <a:buNone/>
                      </a:pPr>
                      <a:r>
                        <a:rPr lang="en-IN" b="1">
                          <a:solidFill>
                            <a:srgbClr val="1F1F1F"/>
                          </a:solidFill>
                          <a:effectLst/>
                          <a:latin typeface="Google Sans Text"/>
                        </a:rPr>
                        <a:t>3. 180-230 bar</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LOX_CHG_TIME[1]</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First Recharge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90293492"/>
                  </a:ext>
                </a:extLst>
              </a:tr>
              <a:tr h="634667">
                <a:tc>
                  <a:txBody>
                    <a:bodyPr/>
                    <a:lstStyle/>
                    <a:p>
                      <a:pPr rtl="0">
                        <a:buNone/>
                      </a:pPr>
                      <a:r>
                        <a:rPr lang="en-IN" b="1">
                          <a:solidFill>
                            <a:srgbClr val="1F1F1F"/>
                          </a:solidFill>
                          <a:effectLst/>
                          <a:latin typeface="Google Sans Text"/>
                        </a:rPr>
                        <a:t>4. 230-180 bar</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LOX_DISCHG_TIME[1]</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Second Discharge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00811831"/>
                  </a:ext>
                </a:extLst>
              </a:tr>
              <a:tr h="634667">
                <a:tc>
                  <a:txBody>
                    <a:bodyPr/>
                    <a:lstStyle/>
                    <a:p>
                      <a:pPr rtl="0">
                        <a:buNone/>
                      </a:pPr>
                      <a:r>
                        <a:rPr lang="en-IN" b="1">
                          <a:solidFill>
                            <a:srgbClr val="1F1F1F"/>
                          </a:solidFill>
                          <a:effectLst/>
                          <a:latin typeface="Google Sans Text"/>
                        </a:rPr>
                        <a:t>... (Repeating)</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Alternating Charge/Discharge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3793450"/>
                  </a:ext>
                </a:extLst>
              </a:tr>
              <a:tr h="634667">
                <a:tc>
                  <a:txBody>
                    <a:bodyPr/>
                    <a:lstStyle/>
                    <a:p>
                      <a:pPr rtl="0">
                        <a:buNone/>
                      </a:pPr>
                      <a:r>
                        <a:rPr lang="en-IN" b="1">
                          <a:solidFill>
                            <a:srgbClr val="1F1F1F"/>
                          </a:solidFill>
                          <a:effectLst/>
                          <a:latin typeface="Google Sans Text"/>
                        </a:rPr>
                        <a:t>Last Recharge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LOX_CHG_TIME[-1]</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Final Top-up before launch</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00754466"/>
                  </a:ext>
                </a:extLst>
              </a:tr>
            </a:tbl>
          </a:graphicData>
        </a:graphic>
      </p:graphicFrame>
      <p:pic>
        <p:nvPicPr>
          <p:cNvPr id="5" name="Picture 4">
            <a:extLst>
              <a:ext uri="{FF2B5EF4-FFF2-40B4-BE49-F238E27FC236}">
                <a16:creationId xmlns:a16="http://schemas.microsoft.com/office/drawing/2014/main" id="{B3EA133E-7585-F4AB-4350-DED268BB163D}"/>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1693357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EE861-72DA-78D0-A081-126F1CFCEB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3B954-0B2C-65DF-7033-5D104A91FE62}"/>
              </a:ext>
            </a:extLst>
          </p:cNvPr>
          <p:cNvSpPr>
            <a:spLocks noGrp="1"/>
          </p:cNvSpPr>
          <p:nvPr>
            <p:ph type="title"/>
          </p:nvPr>
        </p:nvSpPr>
        <p:spPr>
          <a:xfrm>
            <a:off x="680884" y="109487"/>
            <a:ext cx="113538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TABLE 3: CRYO ARM DATA AFTER RETRACTION</a:t>
            </a:r>
          </a:p>
        </p:txBody>
      </p:sp>
      <p:sp>
        <p:nvSpPr>
          <p:cNvPr id="3" name="Content Placeholder 2">
            <a:extLst>
              <a:ext uri="{FF2B5EF4-FFF2-40B4-BE49-F238E27FC236}">
                <a16:creationId xmlns:a16="http://schemas.microsoft.com/office/drawing/2014/main" id="{42CB626D-D9FA-6290-47D8-9B4CF74E2B3E}"/>
              </a:ext>
            </a:extLst>
          </p:cNvPr>
          <p:cNvSpPr>
            <a:spLocks noGrp="1"/>
          </p:cNvSpPr>
          <p:nvPr>
            <p:ph idx="1"/>
          </p:nvPr>
        </p:nvSpPr>
        <p:spPr>
          <a:xfrm>
            <a:off x="416433" y="1517927"/>
            <a:ext cx="5663381" cy="5132029"/>
          </a:xfrm>
        </p:spPr>
        <p:txBody>
          <a:bodyPr>
            <a:normAutofit lnSpcReduction="10000"/>
          </a:bodyPr>
          <a:lstStyle/>
          <a:p>
            <a:pPr marL="0" indent="0" algn="just">
              <a:buNone/>
            </a:pPr>
            <a:r>
              <a:rPr lang="en-US" sz="1600" b="1" dirty="0">
                <a:latin typeface="Times New Roman" panose="02020603050405020304" pitchFamily="18" charset="0"/>
                <a:cs typeface="Times New Roman" panose="02020603050405020304" pitchFamily="18" charset="0"/>
              </a:rPr>
              <a:t>Logic Overview:</a:t>
            </a:r>
            <a:r>
              <a:rPr lang="en-US" sz="1600" dirty="0">
                <a:latin typeface="Times New Roman" panose="02020603050405020304" pitchFamily="18" charset="0"/>
                <a:cs typeface="Times New Roman" panose="02020603050405020304" pitchFamily="18" charset="0"/>
              </a:rPr>
              <a:t> This table reports specific "snapshots" of events occurring during the arm retraction phase.</a:t>
            </a:r>
          </a:p>
          <a:p>
            <a:pPr marL="0" indent="0" algn="just">
              <a:buNone/>
            </a:pPr>
            <a:r>
              <a:rPr lang="en-US" sz="1600" b="1" dirty="0">
                <a:latin typeface="Times New Roman" panose="02020603050405020304" pitchFamily="18" charset="0"/>
                <a:cs typeface="Times New Roman" panose="02020603050405020304" pitchFamily="18" charset="0"/>
              </a:rPr>
              <a:t>Pressures/Angles:</a:t>
            </a:r>
            <a:r>
              <a:rPr lang="en-US" sz="1600" dirty="0">
                <a:latin typeface="Times New Roman" panose="02020603050405020304" pitchFamily="18" charset="0"/>
                <a:cs typeface="Times New Roman" panose="02020603050405020304" pitchFamily="18" charset="0"/>
              </a:rPr>
              <a:t> Divided by 100 if required (e.g., 3700 becomes 37.00).</a:t>
            </a:r>
          </a:p>
          <a:p>
            <a:pPr marL="0" indent="0" algn="just">
              <a:buNone/>
            </a:pPr>
            <a:r>
              <a:rPr lang="en-US" sz="1600" b="1" dirty="0">
                <a:latin typeface="Times New Roman" panose="02020603050405020304" pitchFamily="18" charset="0"/>
                <a:cs typeface="Times New Roman" panose="02020603050405020304" pitchFamily="18" charset="0"/>
              </a:rPr>
              <a:t>Timers:</a:t>
            </a:r>
            <a:r>
              <a:rPr lang="en-US" sz="1600" dirty="0">
                <a:latin typeface="Times New Roman" panose="02020603050405020304" pitchFamily="18" charset="0"/>
                <a:cs typeface="Times New Roman" panose="02020603050405020304" pitchFamily="18" charset="0"/>
              </a:rPr>
              <a:t> Converted from PLC counts to Time format.</a:t>
            </a:r>
          </a:p>
          <a:p>
            <a:pPr marL="0" indent="0" algn="just">
              <a:buNone/>
            </a:pPr>
            <a:r>
              <a:rPr lang="en-US" sz="1600" dirty="0">
                <a:latin typeface="Times New Roman" panose="02020603050405020304" pitchFamily="18" charset="0"/>
                <a:cs typeface="Times New Roman" panose="02020603050405020304" pitchFamily="18" charset="0"/>
              </a:rPr>
              <a:t>def </a:t>
            </a:r>
            <a:r>
              <a:rPr lang="en-US" sz="1600" dirty="0" err="1">
                <a:latin typeface="Times New Roman" panose="02020603050405020304" pitchFamily="18" charset="0"/>
                <a:cs typeface="Times New Roman" panose="02020603050405020304" pitchFamily="18" charset="0"/>
              </a:rPr>
              <a:t>convert_plc_time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val</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i="1" dirty="0">
                <a:latin typeface="Times New Roman" panose="02020603050405020304" pitchFamily="18" charset="0"/>
                <a:cs typeface="Times New Roman" panose="02020603050405020304" pitchFamily="18" charset="0"/>
              </a:rPr>
              <a:t>    # 1. Parse raw integer</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ct</a:t>
            </a:r>
            <a:r>
              <a:rPr lang="en-US" sz="1600" dirty="0">
                <a:latin typeface="Times New Roman" panose="02020603050405020304" pitchFamily="18" charset="0"/>
                <a:cs typeface="Times New Roman" panose="02020603050405020304" pitchFamily="18" charset="0"/>
              </a:rPr>
              <a:t> = int(float(str(</a:t>
            </a:r>
            <a:r>
              <a:rPr lang="en-US" sz="1600" dirty="0" err="1">
                <a:latin typeface="Times New Roman" panose="02020603050405020304" pitchFamily="18" charset="0"/>
                <a:cs typeface="Times New Roman" panose="02020603050405020304" pitchFamily="18" charset="0"/>
              </a:rPr>
              <a:t>val</a:t>
            </a:r>
            <a:r>
              <a:rPr lang="en-US" sz="1600" dirty="0">
                <a:latin typeface="Times New Roman" panose="02020603050405020304" pitchFamily="18" charset="0"/>
                <a:cs typeface="Times New Roman" panose="02020603050405020304" pitchFamily="18" charset="0"/>
              </a:rPr>
              <a:t>)))</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 2. Extract components</a:t>
            </a:r>
          </a:p>
          <a:p>
            <a:pPr marL="0" indent="0" algn="just">
              <a:buNone/>
            </a:pPr>
            <a:r>
              <a:rPr lang="en-US" sz="1600" dirty="0">
                <a:latin typeface="Times New Roman" panose="02020603050405020304" pitchFamily="18" charset="0"/>
                <a:cs typeface="Times New Roman" panose="02020603050405020304" pitchFamily="18" charset="0"/>
              </a:rPr>
              <a:t>    milliseconds = </a:t>
            </a:r>
            <a:r>
              <a:rPr lang="en-US" sz="1600" dirty="0" err="1">
                <a:latin typeface="Times New Roman" panose="02020603050405020304" pitchFamily="18" charset="0"/>
                <a:cs typeface="Times New Roman" panose="02020603050405020304" pitchFamily="18" charset="0"/>
              </a:rPr>
              <a:t>ct</a:t>
            </a:r>
            <a:r>
              <a:rPr lang="en-US" sz="1600" dirty="0">
                <a:latin typeface="Times New Roman" panose="02020603050405020304" pitchFamily="18" charset="0"/>
                <a:cs typeface="Times New Roman" panose="02020603050405020304" pitchFamily="18" charset="0"/>
              </a:rPr>
              <a:t> % 100        # Last 2 digits</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total_sec</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ct</a:t>
            </a:r>
            <a:r>
              <a:rPr lang="en-US" sz="1600" dirty="0">
                <a:latin typeface="Times New Roman" panose="02020603050405020304" pitchFamily="18" charset="0"/>
                <a:cs typeface="Times New Roman" panose="02020603050405020304" pitchFamily="18" charset="0"/>
              </a:rPr>
              <a:t> // 100       # Remove MS</a:t>
            </a:r>
          </a:p>
          <a:p>
            <a:pPr marL="0" indent="0" algn="just">
              <a:buNone/>
            </a:pPr>
            <a:r>
              <a:rPr lang="en-US" sz="1600" dirty="0">
                <a:latin typeface="Times New Roman" panose="02020603050405020304" pitchFamily="18" charset="0"/>
                <a:cs typeface="Times New Roman" panose="02020603050405020304" pitchFamily="18" charset="0"/>
              </a:rPr>
              <a:t>    hours   = </a:t>
            </a:r>
            <a:r>
              <a:rPr lang="en-US" sz="1600" dirty="0" err="1">
                <a:latin typeface="Times New Roman" panose="02020603050405020304" pitchFamily="18" charset="0"/>
                <a:cs typeface="Times New Roman" panose="02020603050405020304" pitchFamily="18" charset="0"/>
              </a:rPr>
              <a:t>total_sec</a:t>
            </a:r>
            <a:r>
              <a:rPr lang="en-US" sz="1600" dirty="0">
                <a:latin typeface="Times New Roman" panose="02020603050405020304" pitchFamily="18" charset="0"/>
                <a:cs typeface="Times New Roman" panose="02020603050405020304" pitchFamily="18" charset="0"/>
              </a:rPr>
              <a:t> // 3600</a:t>
            </a:r>
          </a:p>
          <a:p>
            <a:pPr marL="0" indent="0" algn="just">
              <a:buNone/>
            </a:pPr>
            <a:r>
              <a:rPr lang="en-US" sz="1600" dirty="0">
                <a:latin typeface="Times New Roman" panose="02020603050405020304" pitchFamily="18" charset="0"/>
                <a:cs typeface="Times New Roman" panose="02020603050405020304" pitchFamily="18" charset="0"/>
              </a:rPr>
              <a:t>    minutes = (</a:t>
            </a:r>
            <a:r>
              <a:rPr lang="en-US" sz="1600" dirty="0" err="1">
                <a:latin typeface="Times New Roman" panose="02020603050405020304" pitchFamily="18" charset="0"/>
                <a:cs typeface="Times New Roman" panose="02020603050405020304" pitchFamily="18" charset="0"/>
              </a:rPr>
              <a:t>total_sec</a:t>
            </a:r>
            <a:r>
              <a:rPr lang="en-US" sz="1600" dirty="0">
                <a:latin typeface="Times New Roman" panose="02020603050405020304" pitchFamily="18" charset="0"/>
                <a:cs typeface="Times New Roman" panose="02020603050405020304" pitchFamily="18" charset="0"/>
              </a:rPr>
              <a:t> % 3600) // 60</a:t>
            </a:r>
          </a:p>
          <a:p>
            <a:pPr marL="0" indent="0" algn="just">
              <a:buNone/>
            </a:pPr>
            <a:r>
              <a:rPr lang="en-US" sz="1600" dirty="0">
                <a:latin typeface="Times New Roman" panose="02020603050405020304" pitchFamily="18" charset="0"/>
                <a:cs typeface="Times New Roman" panose="02020603050405020304" pitchFamily="18" charset="0"/>
              </a:rPr>
              <a:t>    seconds = </a:t>
            </a:r>
            <a:r>
              <a:rPr lang="en-US" sz="1600" dirty="0" err="1">
                <a:latin typeface="Times New Roman" panose="02020603050405020304" pitchFamily="18" charset="0"/>
                <a:cs typeface="Times New Roman" panose="02020603050405020304" pitchFamily="18" charset="0"/>
              </a:rPr>
              <a:t>total_sec</a:t>
            </a:r>
            <a:r>
              <a:rPr lang="en-US" sz="1600" dirty="0">
                <a:latin typeface="Times New Roman" panose="02020603050405020304" pitchFamily="18" charset="0"/>
                <a:cs typeface="Times New Roman" panose="02020603050405020304" pitchFamily="18" charset="0"/>
              </a:rPr>
              <a:t> % 60</a:t>
            </a:r>
          </a:p>
          <a:p>
            <a:pPr marL="0" indent="0" algn="just">
              <a:buNone/>
            </a:pP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 3. Format string (HH:MM:SS:MS)</a:t>
            </a:r>
          </a:p>
          <a:p>
            <a:pPr marL="0" indent="0" algn="just">
              <a:buNone/>
            </a:pPr>
            <a:r>
              <a:rPr lang="en-US" sz="1600" dirty="0">
                <a:latin typeface="Times New Roman" panose="02020603050405020304" pitchFamily="18" charset="0"/>
                <a:cs typeface="Times New Roman" panose="02020603050405020304" pitchFamily="18" charset="0"/>
              </a:rPr>
              <a:t>    return f"{hours:02d}:{minutes:02d}:{seconds:02d}:{milliseconds:02d}"</a:t>
            </a:r>
          </a:p>
        </p:txBody>
      </p:sp>
      <p:graphicFrame>
        <p:nvGraphicFramePr>
          <p:cNvPr id="5" name="Table 4">
            <a:extLst>
              <a:ext uri="{FF2B5EF4-FFF2-40B4-BE49-F238E27FC236}">
                <a16:creationId xmlns:a16="http://schemas.microsoft.com/office/drawing/2014/main" id="{D364C46C-D664-758C-D8BC-B5B4E2440EBD}"/>
              </a:ext>
            </a:extLst>
          </p:cNvPr>
          <p:cNvGraphicFramePr>
            <a:graphicFrameLocks noGrp="1"/>
          </p:cNvGraphicFramePr>
          <p:nvPr>
            <p:extLst>
              <p:ext uri="{D42A27DB-BD31-4B8C-83A1-F6EECF244321}">
                <p14:modId xmlns:p14="http://schemas.microsoft.com/office/powerpoint/2010/main" val="68694676"/>
              </p:ext>
            </p:extLst>
          </p:nvPr>
        </p:nvGraphicFramePr>
        <p:xfrm>
          <a:off x="6225558" y="1429436"/>
          <a:ext cx="5663382" cy="4968240"/>
        </p:xfrm>
        <a:graphic>
          <a:graphicData uri="http://schemas.openxmlformats.org/drawingml/2006/table">
            <a:tbl>
              <a:tblPr/>
              <a:tblGrid>
                <a:gridCol w="1887794">
                  <a:extLst>
                    <a:ext uri="{9D8B030D-6E8A-4147-A177-3AD203B41FA5}">
                      <a16:colId xmlns:a16="http://schemas.microsoft.com/office/drawing/2014/main" val="2503265157"/>
                    </a:ext>
                  </a:extLst>
                </a:gridCol>
                <a:gridCol w="1887794">
                  <a:extLst>
                    <a:ext uri="{9D8B030D-6E8A-4147-A177-3AD203B41FA5}">
                      <a16:colId xmlns:a16="http://schemas.microsoft.com/office/drawing/2014/main" val="3520957589"/>
                    </a:ext>
                  </a:extLst>
                </a:gridCol>
                <a:gridCol w="1887794">
                  <a:extLst>
                    <a:ext uri="{9D8B030D-6E8A-4147-A177-3AD203B41FA5}">
                      <a16:colId xmlns:a16="http://schemas.microsoft.com/office/drawing/2014/main" val="1851975920"/>
                    </a:ext>
                  </a:extLst>
                </a:gridCol>
              </a:tblGrid>
              <a:tr h="407469">
                <a:tc>
                  <a:txBody>
                    <a:bodyPr/>
                    <a:lstStyle/>
                    <a:p>
                      <a:pPr rtl="0">
                        <a:buNone/>
                      </a:pPr>
                      <a:r>
                        <a:rPr lang="en-IN" b="1">
                          <a:solidFill>
                            <a:srgbClr val="1F1F1F"/>
                          </a:solidFill>
                          <a:effectLst/>
                          <a:latin typeface="Google Sans Text"/>
                        </a:rPr>
                        <a:t>Event Name</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Excel Column (LOX / LH2)</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b="1">
                          <a:solidFill>
                            <a:srgbClr val="1F1F1F"/>
                          </a:solidFill>
                          <a:effectLst/>
                          <a:latin typeface="Google Sans Text"/>
                        </a:rPr>
                        <a:t>Processing Logic</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69421282"/>
                  </a:ext>
                </a:extLst>
              </a:tr>
              <a:tr h="407469">
                <a:tc>
                  <a:txBody>
                    <a:bodyPr/>
                    <a:lstStyle/>
                    <a:p>
                      <a:pPr rtl="0">
                        <a:buNone/>
                      </a:pPr>
                      <a:r>
                        <a:rPr lang="en-IN" b="1" dirty="0">
                          <a:solidFill>
                            <a:srgbClr val="1F1F1F"/>
                          </a:solidFill>
                          <a:effectLst/>
                          <a:latin typeface="Google Sans Text"/>
                        </a:rPr>
                        <a:t>Header 1 Pressure</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pt-BR">
                          <a:solidFill>
                            <a:srgbClr val="444746"/>
                          </a:solidFill>
                          <a:effectLst/>
                          <a:latin typeface="Google Sans Text"/>
                        </a:rPr>
                        <a:t>LOX_H1P1_UCU</a:t>
                      </a:r>
                      <a:r>
                        <a:rPr lang="pt-BR">
                          <a:solidFill>
                            <a:srgbClr val="1F1F1F"/>
                          </a:solidFill>
                          <a:effectLst/>
                          <a:latin typeface="Google Sans Text"/>
                        </a:rPr>
                        <a:t> / </a:t>
                      </a:r>
                      <a:r>
                        <a:rPr lang="pt-BR">
                          <a:solidFill>
                            <a:srgbClr val="444746"/>
                          </a:solidFill>
                          <a:effectLst/>
                          <a:latin typeface="Google Sans Text"/>
                        </a:rPr>
                        <a:t>LH2_H1P1_UCU</a:t>
                      </a:r>
                      <a:endParaRPr lang="pt-BR">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Raw Value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3866056"/>
                  </a:ext>
                </a:extLst>
              </a:tr>
              <a:tr h="407469">
                <a:tc>
                  <a:txBody>
                    <a:bodyPr/>
                    <a:lstStyle/>
                    <a:p>
                      <a:pPr rtl="0">
                        <a:buNone/>
                      </a:pPr>
                      <a:r>
                        <a:rPr lang="en-IN" b="1" dirty="0">
                          <a:solidFill>
                            <a:srgbClr val="1F1F1F"/>
                          </a:solidFill>
                          <a:effectLst/>
                          <a:latin typeface="Google Sans Text"/>
                        </a:rPr>
                        <a:t>Pivot Pressure</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dirty="0">
                          <a:solidFill>
                            <a:srgbClr val="444746"/>
                          </a:solidFill>
                          <a:effectLst/>
                          <a:latin typeface="Google Sans Text"/>
                        </a:rPr>
                        <a:t>LOX_PVT1_UCU</a:t>
                      </a:r>
                      <a:r>
                        <a:rPr lang="en-IN" dirty="0">
                          <a:solidFill>
                            <a:srgbClr val="1F1F1F"/>
                          </a:solidFill>
                          <a:effectLst/>
                          <a:latin typeface="Google Sans Text"/>
                        </a:rPr>
                        <a:t> / </a:t>
                      </a:r>
                      <a:r>
                        <a:rPr lang="en-IN" dirty="0">
                          <a:solidFill>
                            <a:srgbClr val="444746"/>
                          </a:solidFill>
                          <a:effectLst/>
                          <a:latin typeface="Google Sans Text"/>
                        </a:rPr>
                        <a:t>LH2_PVT1_UCU</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1F1F1F"/>
                          </a:solidFill>
                          <a:effectLst/>
                          <a:latin typeface="Google Sans Text"/>
                        </a:rPr>
                        <a:t>Raw Value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65886508"/>
                  </a:ext>
                </a:extLst>
              </a:tr>
              <a:tr h="407469">
                <a:tc>
                  <a:txBody>
                    <a:bodyPr/>
                    <a:lstStyle/>
                    <a:p>
                      <a:pPr rtl="0">
                        <a:buNone/>
                      </a:pPr>
                      <a:r>
                        <a:rPr lang="en-IN" b="1">
                          <a:solidFill>
                            <a:srgbClr val="1F1F1F"/>
                          </a:solidFill>
                          <a:effectLst/>
                          <a:latin typeface="Google Sans Text"/>
                        </a:rPr>
                        <a:t>UCU Separation</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dirty="0">
                          <a:solidFill>
                            <a:srgbClr val="444746"/>
                          </a:solidFill>
                          <a:effectLst/>
                          <a:latin typeface="Google Sans Text"/>
                        </a:rPr>
                        <a:t>LOX_UCU_DETECTED</a:t>
                      </a:r>
                      <a:r>
                        <a:rPr lang="en-IN" dirty="0">
                          <a:solidFill>
                            <a:srgbClr val="1F1F1F"/>
                          </a:solidFill>
                          <a:effectLst/>
                          <a:latin typeface="Google Sans Text"/>
                        </a:rPr>
                        <a:t> / </a:t>
                      </a:r>
                      <a:r>
                        <a:rPr lang="en-IN" dirty="0">
                          <a:solidFill>
                            <a:srgbClr val="444746"/>
                          </a:solidFill>
                          <a:effectLst/>
                          <a:latin typeface="Google Sans Text"/>
                        </a:rPr>
                        <a:t>LH2_...</a:t>
                      </a:r>
                      <a:endParaRPr lang="en-IN"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Convert PLC Integer to Time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45153453"/>
                  </a:ext>
                </a:extLst>
              </a:tr>
              <a:tr h="407469">
                <a:tc>
                  <a:txBody>
                    <a:bodyPr/>
                    <a:lstStyle/>
                    <a:p>
                      <a:pPr rtl="0">
                        <a:buNone/>
                      </a:pPr>
                      <a:r>
                        <a:rPr lang="en-IN" b="1">
                          <a:solidFill>
                            <a:srgbClr val="1F1F1F"/>
                          </a:solidFill>
                          <a:effectLst/>
                          <a:latin typeface="Google Sans Text"/>
                        </a:rPr>
                        <a:t>Source Cutoff</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LOX_SRCCUTOFF</a:t>
                      </a:r>
                      <a:r>
                        <a:rPr lang="en-IN">
                          <a:solidFill>
                            <a:srgbClr val="1F1F1F"/>
                          </a:solidFill>
                          <a:effectLst/>
                          <a:latin typeface="Google Sans Text"/>
                        </a:rPr>
                        <a:t> / </a:t>
                      </a:r>
                      <a:r>
                        <a:rPr lang="en-IN">
                          <a:solidFill>
                            <a:srgbClr val="444746"/>
                          </a:solidFill>
                          <a:effectLst/>
                          <a:latin typeface="Google Sans Text"/>
                        </a:rPr>
                        <a:t>LH2_...</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dirty="0">
                          <a:solidFill>
                            <a:srgbClr val="1F1F1F"/>
                          </a:solidFill>
                          <a:effectLst/>
                          <a:latin typeface="Google Sans Text"/>
                        </a:rPr>
                        <a:t>Convert PLC Integer </a:t>
                      </a:r>
                      <a:r>
                        <a:rPr lang="en-US" dirty="0" err="1">
                          <a:solidFill>
                            <a:srgbClr val="1F1F1F"/>
                          </a:solidFill>
                          <a:effectLst/>
                          <a:latin typeface="Google Sans Text"/>
                        </a:rPr>
                        <a:t>toTime</a:t>
                      </a:r>
                      <a:endParaRPr lang="en-US" dirty="0">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0489645"/>
                  </a:ext>
                </a:extLst>
              </a:tr>
              <a:tr h="407469">
                <a:tc>
                  <a:txBody>
                    <a:bodyPr/>
                    <a:lstStyle/>
                    <a:p>
                      <a:pPr rtl="0">
                        <a:buNone/>
                      </a:pPr>
                      <a:r>
                        <a:rPr lang="en-IN" b="1">
                          <a:solidFill>
                            <a:srgbClr val="1F1F1F"/>
                          </a:solidFill>
                          <a:effectLst/>
                          <a:latin typeface="Google Sans Text"/>
                        </a:rPr>
                        <a:t>Boom at 37 Deg</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LOX_BOOM37</a:t>
                      </a:r>
                      <a:r>
                        <a:rPr lang="en-IN">
                          <a:solidFill>
                            <a:srgbClr val="1F1F1F"/>
                          </a:solidFill>
                          <a:effectLst/>
                          <a:latin typeface="Google Sans Text"/>
                        </a:rPr>
                        <a:t> / </a:t>
                      </a:r>
                      <a:r>
                        <a:rPr lang="en-IN">
                          <a:solidFill>
                            <a:srgbClr val="444746"/>
                          </a:solidFill>
                          <a:effectLst/>
                          <a:latin typeface="Google Sans Text"/>
                        </a:rPr>
                        <a:t>LH2_BOOM37</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a:solidFill>
                            <a:srgbClr val="1F1F1F"/>
                          </a:solidFill>
                          <a:effectLst/>
                          <a:latin typeface="Google Sans Text"/>
                        </a:rPr>
                        <a:t>Divide by 100 (3700 $\to$ 37.00)</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5723529"/>
                  </a:ext>
                </a:extLst>
              </a:tr>
              <a:tr h="407469">
                <a:tc>
                  <a:txBody>
                    <a:bodyPr/>
                    <a:lstStyle/>
                    <a:p>
                      <a:pPr rtl="0">
                        <a:buNone/>
                      </a:pPr>
                      <a:r>
                        <a:rPr lang="en-IN" b="1">
                          <a:solidFill>
                            <a:srgbClr val="1F1F1F"/>
                          </a:solidFill>
                          <a:effectLst/>
                          <a:latin typeface="Google Sans Text"/>
                        </a:rPr>
                        <a:t>Boom at 50 Deg</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a:solidFill>
                            <a:srgbClr val="444746"/>
                          </a:solidFill>
                          <a:effectLst/>
                          <a:latin typeface="Google Sans Text"/>
                        </a:rPr>
                        <a:t>LOX_BOOM50</a:t>
                      </a:r>
                      <a:r>
                        <a:rPr lang="en-IN">
                          <a:solidFill>
                            <a:srgbClr val="1F1F1F"/>
                          </a:solidFill>
                          <a:effectLst/>
                          <a:latin typeface="Google Sans Text"/>
                        </a:rPr>
                        <a:t> / </a:t>
                      </a:r>
                      <a:r>
                        <a:rPr lang="en-IN">
                          <a:solidFill>
                            <a:srgbClr val="444746"/>
                          </a:solidFill>
                          <a:effectLst/>
                          <a:latin typeface="Google Sans Text"/>
                        </a:rPr>
                        <a:t>LH2_BOOM50</a:t>
                      </a:r>
                      <a:endParaRPr lang="en-IN">
                        <a:solidFill>
                          <a:srgbClr val="1F1F1F"/>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dirty="0">
                          <a:solidFill>
                            <a:srgbClr val="1F1F1F"/>
                          </a:solidFill>
                          <a:effectLst/>
                          <a:latin typeface="Google Sans Text"/>
                        </a:rPr>
                        <a:t>Divide by 100</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11293839"/>
                  </a:ext>
                </a:extLst>
              </a:tr>
            </a:tbl>
          </a:graphicData>
        </a:graphic>
      </p:graphicFrame>
      <p:pic>
        <p:nvPicPr>
          <p:cNvPr id="6" name="Picture 5">
            <a:extLst>
              <a:ext uri="{FF2B5EF4-FFF2-40B4-BE49-F238E27FC236}">
                <a16:creationId xmlns:a16="http://schemas.microsoft.com/office/drawing/2014/main" id="{C29EB0F1-AB11-2C70-A0F5-83589BBA53BE}"/>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2993485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FF0FD-A263-1D6C-D902-510FB5A28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B0A18-DCB1-3A67-6CCF-C22C983BD12E}"/>
              </a:ext>
            </a:extLst>
          </p:cNvPr>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PRESSURE GRAPHS (LOX &amp; LH2)</a:t>
            </a:r>
          </a:p>
        </p:txBody>
      </p:sp>
      <p:sp>
        <p:nvSpPr>
          <p:cNvPr id="3" name="Content Placeholder 2">
            <a:extLst>
              <a:ext uri="{FF2B5EF4-FFF2-40B4-BE49-F238E27FC236}">
                <a16:creationId xmlns:a16="http://schemas.microsoft.com/office/drawing/2014/main" id="{73FDD31F-7179-7658-E741-B5E614AEF5A7}"/>
              </a:ext>
            </a:extLst>
          </p:cNvPr>
          <p:cNvSpPr>
            <a:spLocks noGrp="1"/>
          </p:cNvSpPr>
          <p:nvPr>
            <p:ph idx="1"/>
          </p:nvPr>
        </p:nvSpPr>
        <p:spPr>
          <a:xfrm>
            <a:off x="838200" y="1690688"/>
            <a:ext cx="10515600" cy="4351338"/>
          </a:xfrm>
        </p:spPr>
        <p:txBody>
          <a:bodyPr>
            <a:normAutofit/>
          </a:bodyPr>
          <a:lstStyle/>
          <a:p>
            <a:pPr algn="just"/>
            <a:r>
              <a:rPr lang="en-US" sz="2000" b="1" dirty="0">
                <a:latin typeface="Times New Roman" panose="02020603050405020304" pitchFamily="18" charset="0"/>
                <a:cs typeface="Times New Roman" panose="02020603050405020304" pitchFamily="18" charset="0"/>
              </a:rPr>
              <a:t>Logic Overview:</a:t>
            </a:r>
            <a:r>
              <a:rPr lang="en-US" sz="2000" dirty="0">
                <a:latin typeface="Times New Roman" panose="02020603050405020304" pitchFamily="18" charset="0"/>
                <a:cs typeface="Times New Roman" panose="02020603050405020304" pitchFamily="18" charset="0"/>
              </a:rPr>
              <a:t> This function visualizes the pressure trends of multiple sensors (Headers &amp; Pivots) over a specific time window around the launch.</a:t>
            </a:r>
          </a:p>
          <a:p>
            <a:pPr algn="just"/>
            <a:r>
              <a:rPr lang="en-US" sz="2000" b="1" dirty="0">
                <a:latin typeface="Times New Roman" panose="02020603050405020304" pitchFamily="18" charset="0"/>
                <a:cs typeface="Times New Roman" panose="02020603050405020304" pitchFamily="18" charset="0"/>
              </a:rPr>
              <a:t>Time Parsing:</a:t>
            </a:r>
            <a:r>
              <a:rPr lang="en-US" sz="2000" dirty="0">
                <a:latin typeface="Times New Roman" panose="02020603050405020304" pitchFamily="18" charset="0"/>
                <a:cs typeface="Times New Roman" panose="02020603050405020304" pitchFamily="18" charset="0"/>
              </a:rPr>
              <a:t> Merges the separate "Date" and "Time" columns from Excel into a single comparable datetime object.</a:t>
            </a:r>
          </a:p>
          <a:p>
            <a:pPr algn="just"/>
            <a:r>
              <a:rPr lang="en-US" sz="2000" b="1" dirty="0">
                <a:latin typeface="Times New Roman" panose="02020603050405020304" pitchFamily="18" charset="0"/>
                <a:cs typeface="Times New Roman" panose="02020603050405020304" pitchFamily="18" charset="0"/>
              </a:rPr>
              <a:t>Data Filtering:</a:t>
            </a:r>
            <a:r>
              <a:rPr lang="en-US" sz="2000" dirty="0">
                <a:latin typeface="Times New Roman" panose="02020603050405020304" pitchFamily="18" charset="0"/>
                <a:cs typeface="Times New Roman" panose="02020603050405020304" pitchFamily="18" charset="0"/>
              </a:rPr>
              <a:t> Slices the </a:t>
            </a:r>
            <a:r>
              <a:rPr lang="en-US" sz="2000" dirty="0" err="1">
                <a:latin typeface="Times New Roman" panose="02020603050405020304" pitchFamily="18" charset="0"/>
                <a:cs typeface="Times New Roman" panose="02020603050405020304" pitchFamily="18" charset="0"/>
              </a:rPr>
              <a:t>dataframe</a:t>
            </a:r>
            <a:r>
              <a:rPr lang="en-US" sz="2000" dirty="0">
                <a:latin typeface="Times New Roman" panose="02020603050405020304" pitchFamily="18" charset="0"/>
                <a:cs typeface="Times New Roman" panose="02020603050405020304" pitchFamily="18" charset="0"/>
              </a:rPr>
              <a:t> to only include data from </a:t>
            </a:r>
            <a:r>
              <a:rPr lang="en-US" sz="2000" b="1" dirty="0">
                <a:latin typeface="Times New Roman" panose="02020603050405020304" pitchFamily="18" charset="0"/>
                <a:cs typeface="Times New Roman" panose="02020603050405020304" pitchFamily="18" charset="0"/>
              </a:rPr>
              <a:t>T-40 mins to T+10 mins</a:t>
            </a:r>
            <a:r>
              <a:rPr lang="en-US" sz="2000" dirty="0">
                <a:latin typeface="Times New Roman" panose="02020603050405020304" pitchFamily="18" charset="0"/>
                <a:cs typeface="Times New Roman" panose="02020603050405020304" pitchFamily="18" charset="0"/>
              </a:rPr>
              <a:t> (relative to the user-provided Launch Time).</a:t>
            </a:r>
          </a:p>
          <a:p>
            <a:pPr algn="just"/>
            <a:r>
              <a:rPr lang="en-US" sz="2000" b="1" dirty="0">
                <a:latin typeface="Times New Roman" panose="02020603050405020304" pitchFamily="18" charset="0"/>
                <a:cs typeface="Times New Roman" panose="02020603050405020304" pitchFamily="18" charset="0"/>
              </a:rPr>
              <a:t>Multi-Sensor Plotting:</a:t>
            </a:r>
            <a:r>
              <a:rPr lang="en-US" sz="2000" dirty="0">
                <a:latin typeface="Times New Roman" panose="02020603050405020304" pitchFamily="18" charset="0"/>
                <a:cs typeface="Times New Roman" panose="02020603050405020304" pitchFamily="18" charset="0"/>
              </a:rPr>
              <a:t> Iterates through a predefined list of sensor columns (e.g., LOX_HDR1, LOX_PVT1) and plots each as a separate line on the same chart.</a:t>
            </a:r>
          </a:p>
          <a:p>
            <a:pPr algn="just"/>
            <a:r>
              <a:rPr lang="en-US" sz="2000" b="1" dirty="0">
                <a:latin typeface="Times New Roman" panose="02020603050405020304" pitchFamily="18" charset="0"/>
                <a:cs typeface="Times New Roman" panose="02020603050405020304" pitchFamily="18" charset="0"/>
              </a:rPr>
              <a:t>Smart Axis Formatting:</a:t>
            </a:r>
            <a:endParaRPr lang="en-US" sz="2000" dirty="0">
              <a:latin typeface="Times New Roman" panose="02020603050405020304" pitchFamily="18" charset="0"/>
              <a:cs typeface="Times New Roman" panose="02020603050405020304" pitchFamily="18" charset="0"/>
            </a:endParaRPr>
          </a:p>
          <a:p>
            <a:pPr lvl="1" algn="just"/>
            <a:r>
              <a:rPr lang="en-US" sz="2000" b="1" dirty="0">
                <a:latin typeface="Times New Roman" panose="02020603050405020304" pitchFamily="18" charset="0"/>
                <a:cs typeface="Times New Roman" panose="02020603050405020304" pitchFamily="18" charset="0"/>
              </a:rPr>
              <a:t>X-Axis:</a:t>
            </a:r>
            <a:r>
              <a:rPr lang="en-US" sz="2000" dirty="0">
                <a:latin typeface="Times New Roman" panose="02020603050405020304" pitchFamily="18" charset="0"/>
                <a:cs typeface="Times New Roman" panose="02020603050405020304" pitchFamily="18" charset="0"/>
              </a:rPr>
              <a:t> Formats timestamps to show only HH:MM:SS.</a:t>
            </a:r>
          </a:p>
          <a:p>
            <a:pPr lvl="1" algn="just"/>
            <a:r>
              <a:rPr lang="en-US" sz="2000" b="1" dirty="0">
                <a:latin typeface="Times New Roman" panose="02020603050405020304" pitchFamily="18" charset="0"/>
                <a:cs typeface="Times New Roman" panose="02020603050405020304" pitchFamily="18" charset="0"/>
              </a:rPr>
              <a:t>Y-Axis:</a:t>
            </a:r>
            <a:r>
              <a:rPr lang="en-US" sz="2000" dirty="0">
                <a:latin typeface="Times New Roman" panose="02020603050405020304" pitchFamily="18" charset="0"/>
                <a:cs typeface="Times New Roman" panose="02020603050405020304" pitchFamily="18" charset="0"/>
              </a:rPr>
              <a:t> Dynamically calculates min/max values and snaps the limits to the nearest </a:t>
            </a:r>
            <a:r>
              <a:rPr lang="en-US" sz="2000" b="1" dirty="0">
                <a:latin typeface="Times New Roman" panose="02020603050405020304" pitchFamily="18" charset="0"/>
                <a:cs typeface="Times New Roman" panose="02020603050405020304" pitchFamily="18" charset="0"/>
              </a:rPr>
              <a:t>20 bar</a:t>
            </a:r>
            <a:r>
              <a:rPr lang="en-US" sz="2000" dirty="0">
                <a:latin typeface="Times New Roman" panose="02020603050405020304" pitchFamily="18" charset="0"/>
                <a:cs typeface="Times New Roman" panose="02020603050405020304" pitchFamily="18" charset="0"/>
              </a:rPr>
              <a:t> step.</a:t>
            </a:r>
          </a:p>
        </p:txBody>
      </p:sp>
      <p:pic>
        <p:nvPicPr>
          <p:cNvPr id="4" name="Picture 3">
            <a:extLst>
              <a:ext uri="{FF2B5EF4-FFF2-40B4-BE49-F238E27FC236}">
                <a16:creationId xmlns:a16="http://schemas.microsoft.com/office/drawing/2014/main" id="{CA55A5C1-9A8C-B469-29F5-0A090712C15A}"/>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425267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A7255-B8D2-783A-884D-28AA52134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81D7C-0F7D-987F-775E-663B9F9A1DDE}"/>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BOOM ANGLE GRAPH</a:t>
            </a:r>
          </a:p>
        </p:txBody>
      </p:sp>
      <p:sp>
        <p:nvSpPr>
          <p:cNvPr id="3" name="Content Placeholder 2">
            <a:extLst>
              <a:ext uri="{FF2B5EF4-FFF2-40B4-BE49-F238E27FC236}">
                <a16:creationId xmlns:a16="http://schemas.microsoft.com/office/drawing/2014/main" id="{94075340-C941-8714-A385-E5B0BDEF2D70}"/>
              </a:ext>
            </a:extLst>
          </p:cNvPr>
          <p:cNvSpPr>
            <a:spLocks noGrp="1"/>
          </p:cNvSpPr>
          <p:nvPr>
            <p:ph idx="1"/>
          </p:nvPr>
        </p:nvSpPr>
        <p:spPr>
          <a:xfrm>
            <a:off x="838199" y="1923948"/>
            <a:ext cx="10515600" cy="4351338"/>
          </a:xfrm>
        </p:spPr>
        <p:txBody>
          <a:bodyPr>
            <a:normAutofit/>
          </a:bodyPr>
          <a:lstStyle/>
          <a:p>
            <a:pPr algn="just"/>
            <a:r>
              <a:rPr lang="en-US" sz="2000" b="1" dirty="0">
                <a:latin typeface="Times New Roman" panose="02020603050405020304" pitchFamily="18" charset="0"/>
                <a:cs typeface="Times New Roman" panose="02020603050405020304" pitchFamily="18" charset="0"/>
              </a:rPr>
              <a:t>Logic Overview:</a:t>
            </a:r>
            <a:r>
              <a:rPr lang="en-US" sz="2000" dirty="0">
                <a:latin typeface="Times New Roman" panose="02020603050405020304" pitchFamily="18" charset="0"/>
                <a:cs typeface="Times New Roman" panose="02020603050405020304" pitchFamily="18" charset="0"/>
              </a:rPr>
              <a:t> This graph compares the physical movement of the LOX and LH2 arms on a single timeline.</a:t>
            </a:r>
          </a:p>
          <a:p>
            <a:pPr algn="just"/>
            <a:r>
              <a:rPr lang="en-US" sz="2000" b="1" dirty="0">
                <a:latin typeface="Times New Roman" panose="02020603050405020304" pitchFamily="18" charset="0"/>
                <a:cs typeface="Times New Roman" panose="02020603050405020304" pitchFamily="18" charset="0"/>
              </a:rPr>
              <a:t>Dual-Sheet Reading:</a:t>
            </a:r>
            <a:r>
              <a:rPr lang="en-US" sz="2000" dirty="0">
                <a:latin typeface="Times New Roman" panose="02020603050405020304" pitchFamily="18" charset="0"/>
                <a:cs typeface="Times New Roman" panose="02020603050405020304" pitchFamily="18" charset="0"/>
              </a:rPr>
              <a:t> Reads two separate sheets ("LOX" and "LH2") from the same Excel file.</a:t>
            </a:r>
          </a:p>
          <a:p>
            <a:pPr algn="just"/>
            <a:r>
              <a:rPr lang="en-US" sz="2000" b="1" dirty="0">
                <a:latin typeface="Times New Roman" panose="02020603050405020304" pitchFamily="18" charset="0"/>
                <a:cs typeface="Times New Roman" panose="02020603050405020304" pitchFamily="18" charset="0"/>
              </a:rPr>
              <a:t>Column Detection:</a:t>
            </a:r>
            <a:r>
              <a:rPr lang="en-US" sz="2000" dirty="0">
                <a:latin typeface="Times New Roman" panose="02020603050405020304" pitchFamily="18" charset="0"/>
                <a:cs typeface="Times New Roman" panose="02020603050405020304" pitchFamily="18" charset="0"/>
              </a:rPr>
              <a:t> Dynamically finds columns containing keywords "TIME" (X-axis) and "ANGLE" (Y-axis).</a:t>
            </a:r>
          </a:p>
          <a:p>
            <a:pPr algn="just"/>
            <a:r>
              <a:rPr lang="en-US" sz="2000" b="1" dirty="0">
                <a:latin typeface="Times New Roman" panose="02020603050405020304" pitchFamily="18" charset="0"/>
                <a:cs typeface="Times New Roman" panose="02020603050405020304" pitchFamily="18" charset="0"/>
              </a:rPr>
              <a:t>Overlay Plotting:</a:t>
            </a:r>
            <a:endParaRPr lang="en-US" sz="2000" dirty="0">
              <a:latin typeface="Times New Roman" panose="02020603050405020304" pitchFamily="18" charset="0"/>
              <a:cs typeface="Times New Roman" panose="02020603050405020304" pitchFamily="18" charset="0"/>
            </a:endParaRPr>
          </a:p>
          <a:p>
            <a:pPr lvl="1" algn="just"/>
            <a:r>
              <a:rPr lang="en-US" sz="2000" b="1" dirty="0">
                <a:latin typeface="Times New Roman" panose="02020603050405020304" pitchFamily="18" charset="0"/>
                <a:cs typeface="Times New Roman" panose="02020603050405020304" pitchFamily="18" charset="0"/>
              </a:rPr>
              <a:t>LOX:</a:t>
            </a:r>
            <a:r>
              <a:rPr lang="en-US" sz="2000" dirty="0">
                <a:latin typeface="Times New Roman" panose="02020603050405020304" pitchFamily="18" charset="0"/>
                <a:cs typeface="Times New Roman" panose="02020603050405020304" pitchFamily="18" charset="0"/>
              </a:rPr>
              <a:t> Plotted as a </a:t>
            </a:r>
            <a:r>
              <a:rPr lang="en-US" sz="2000" b="1" dirty="0">
                <a:latin typeface="Times New Roman" panose="02020603050405020304" pitchFamily="18" charset="0"/>
                <a:cs typeface="Times New Roman" panose="02020603050405020304" pitchFamily="18" charset="0"/>
              </a:rPr>
              <a:t>Solid Red Line</a:t>
            </a:r>
            <a:r>
              <a:rPr lang="en-US" sz="2000" dirty="0">
                <a:latin typeface="Times New Roman" panose="02020603050405020304" pitchFamily="18" charset="0"/>
                <a:cs typeface="Times New Roman" panose="02020603050405020304" pitchFamily="18" charset="0"/>
              </a:rPr>
              <a:t>.</a:t>
            </a:r>
          </a:p>
          <a:p>
            <a:pPr lvl="1" algn="just"/>
            <a:r>
              <a:rPr lang="en-US" sz="2000" b="1" dirty="0">
                <a:latin typeface="Times New Roman" panose="02020603050405020304" pitchFamily="18" charset="0"/>
                <a:cs typeface="Times New Roman" panose="02020603050405020304" pitchFamily="18" charset="0"/>
              </a:rPr>
              <a:t>LH2:</a:t>
            </a:r>
            <a:r>
              <a:rPr lang="en-US" sz="2000" dirty="0">
                <a:latin typeface="Times New Roman" panose="02020603050405020304" pitchFamily="18" charset="0"/>
                <a:cs typeface="Times New Roman" panose="02020603050405020304" pitchFamily="18" charset="0"/>
              </a:rPr>
              <a:t> Plotted as a </a:t>
            </a:r>
            <a:r>
              <a:rPr lang="en-US" sz="2000" b="1" dirty="0">
                <a:latin typeface="Times New Roman" panose="02020603050405020304" pitchFamily="18" charset="0"/>
                <a:cs typeface="Times New Roman" panose="02020603050405020304" pitchFamily="18" charset="0"/>
              </a:rPr>
              <a:t>Dashed Blue Line</a:t>
            </a:r>
            <a:r>
              <a:rPr lang="en-US" sz="2000" dirty="0">
                <a:latin typeface="Times New Roman" panose="02020603050405020304" pitchFamily="18" charset="0"/>
                <a:cs typeface="Times New Roman" panose="02020603050405020304" pitchFamily="18" charset="0"/>
              </a:rPr>
              <a:t> (for visual distinction).</a:t>
            </a:r>
          </a:p>
          <a:p>
            <a:pPr algn="just"/>
            <a:r>
              <a:rPr lang="en-US" sz="2000" b="1" dirty="0">
                <a:latin typeface="Times New Roman" panose="02020603050405020304" pitchFamily="18" charset="0"/>
                <a:cs typeface="Times New Roman" panose="02020603050405020304" pitchFamily="18" charset="0"/>
              </a:rPr>
              <a:t>Unit Handling:</a:t>
            </a:r>
            <a:r>
              <a:rPr lang="en-US" sz="2000" dirty="0">
                <a:latin typeface="Times New Roman" panose="02020603050405020304" pitchFamily="18" charset="0"/>
                <a:cs typeface="Times New Roman" panose="02020603050405020304" pitchFamily="18" charset="0"/>
              </a:rPr>
              <a:t> The X-axis is kept in </a:t>
            </a:r>
            <a:r>
              <a:rPr lang="en-US" sz="2000" b="1" dirty="0">
                <a:latin typeface="Times New Roman" panose="02020603050405020304" pitchFamily="18" charset="0"/>
                <a:cs typeface="Times New Roman" panose="02020603050405020304" pitchFamily="18" charset="0"/>
              </a:rPr>
              <a:t>Milliseconds</a:t>
            </a:r>
            <a:r>
              <a:rPr lang="en-US" sz="2000" dirty="0">
                <a:latin typeface="Times New Roman" panose="02020603050405020304" pitchFamily="18" charset="0"/>
                <a:cs typeface="Times New Roman" panose="02020603050405020304" pitchFamily="18" charset="0"/>
              </a:rPr>
              <a:t> (raw PLC time) as per the source data.</a:t>
            </a:r>
          </a:p>
        </p:txBody>
      </p:sp>
      <p:pic>
        <p:nvPicPr>
          <p:cNvPr id="4" name="Picture 3">
            <a:extLst>
              <a:ext uri="{FF2B5EF4-FFF2-40B4-BE49-F238E27FC236}">
                <a16:creationId xmlns:a16="http://schemas.microsoft.com/office/drawing/2014/main" id="{81A5DE24-9A30-191C-1FE0-4FF095AA2111}"/>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27030897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D8C41-0DA1-164C-CCD7-67AD27A674CA}"/>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GSLV REPORT</a:t>
            </a:r>
          </a:p>
        </p:txBody>
      </p:sp>
      <p:sp>
        <p:nvSpPr>
          <p:cNvPr id="3" name="Content Placeholder 2">
            <a:extLst>
              <a:ext uri="{FF2B5EF4-FFF2-40B4-BE49-F238E27FC236}">
                <a16:creationId xmlns:a16="http://schemas.microsoft.com/office/drawing/2014/main" id="{FAA11695-083B-B0FA-8AF9-A5881B07A7B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6A5A32EC-CBE2-8D2B-3B7F-C2481ECBFFDD}"/>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3306828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FBA5-55E4-DF8F-7545-0459D1BC1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FC79C-0298-18B5-7642-03320E42BCA7}"/>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LVM3 OUTPUT</a:t>
            </a:r>
          </a:p>
        </p:txBody>
      </p:sp>
      <p:sp>
        <p:nvSpPr>
          <p:cNvPr id="3" name="Content Placeholder 2">
            <a:extLst>
              <a:ext uri="{FF2B5EF4-FFF2-40B4-BE49-F238E27FC236}">
                <a16:creationId xmlns:a16="http://schemas.microsoft.com/office/drawing/2014/main" id="{2AEF0014-224E-0AD6-46D6-0A1EC6C3D3DD}"/>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CD0DB07-4030-CFC3-60D9-D13136B03258}"/>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1026076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DDC77-193E-2AA8-E21D-A385500B7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C941B9-A120-E22C-0A70-C453799502BC}"/>
              </a:ext>
            </a:extLst>
          </p:cNvPr>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TECHNOLOGIES USED</a:t>
            </a:r>
          </a:p>
        </p:txBody>
      </p:sp>
      <p:sp>
        <p:nvSpPr>
          <p:cNvPr id="7" name="TextBox 6">
            <a:extLst>
              <a:ext uri="{FF2B5EF4-FFF2-40B4-BE49-F238E27FC236}">
                <a16:creationId xmlns:a16="http://schemas.microsoft.com/office/drawing/2014/main" id="{115F375C-9AA4-A7FC-E43A-5836CFDB94F7}"/>
              </a:ext>
            </a:extLst>
          </p:cNvPr>
          <p:cNvSpPr txBox="1"/>
          <p:nvPr/>
        </p:nvSpPr>
        <p:spPr>
          <a:xfrm>
            <a:off x="6666273" y="1745081"/>
            <a:ext cx="5181598" cy="4770537"/>
          </a:xfrm>
          <a:prstGeom prst="rect">
            <a:avLst/>
          </a:prstGeom>
          <a:noFill/>
        </p:spPr>
        <p:txBody>
          <a:bodyPr wrap="square">
            <a:spAutoFit/>
          </a:bodyPr>
          <a:lstStyle/>
          <a:p>
            <a:pPr marL="0" indent="0" algn="just">
              <a:buNone/>
            </a:pPr>
            <a:r>
              <a:rPr lang="en-US" sz="1600" b="1" dirty="0" err="1">
                <a:latin typeface="Times New Roman" panose="02020603050405020304" pitchFamily="18" charset="0"/>
                <a:cs typeface="Times New Roman" panose="02020603050405020304" pitchFamily="18" charset="0"/>
              </a:rPr>
              <a:t>ReportLab</a:t>
            </a:r>
            <a:r>
              <a:rPr lang="en-IN"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PDF generation engine.</a:t>
            </a:r>
          </a:p>
          <a:p>
            <a:pPr marL="0" indent="0" algn="just">
              <a:buNone/>
            </a:pPr>
            <a:r>
              <a:rPr lang="en-US" sz="1600" dirty="0">
                <a:latin typeface="Times New Roman" panose="02020603050405020304" pitchFamily="18" charset="0"/>
                <a:cs typeface="Times New Roman" panose="02020603050405020304" pitchFamily="18" charset="0"/>
              </a:rPr>
              <a:t>It programmatically builds the final report, arranging tables, headers, and embedding the generated graphs into a professional A4 layout.</a:t>
            </a:r>
          </a:p>
          <a:p>
            <a:pPr marL="0" indent="0" algn="just">
              <a:buNone/>
            </a:pPr>
            <a:endParaRPr lang="en-IN" sz="1600" dirty="0">
              <a:latin typeface="Times New Roman" panose="02020603050405020304" pitchFamily="18" charset="0"/>
              <a:cs typeface="Times New Roman" panose="02020603050405020304" pitchFamily="18" charset="0"/>
            </a:endParaRPr>
          </a:p>
          <a:p>
            <a:pPr marL="0" indent="0" algn="just">
              <a:buNone/>
            </a:pPr>
            <a:r>
              <a:rPr lang="en-US" sz="1600" b="1" dirty="0" err="1">
                <a:latin typeface="Times New Roman" panose="02020603050405020304" pitchFamily="18" charset="0"/>
                <a:cs typeface="Times New Roman" panose="02020603050405020304" pitchFamily="18" charset="0"/>
              </a:rPr>
              <a:t>OpenPyXL</a:t>
            </a:r>
            <a:r>
              <a:rPr lang="en-IN"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Excel driver. </a:t>
            </a:r>
          </a:p>
          <a:p>
            <a:pPr marL="0" indent="0" algn="just">
              <a:buNone/>
            </a:pPr>
            <a:r>
              <a:rPr lang="en-US" sz="1600" dirty="0">
                <a:latin typeface="Times New Roman" panose="02020603050405020304" pitchFamily="18" charset="0"/>
                <a:cs typeface="Times New Roman" panose="02020603050405020304" pitchFamily="18" charset="0"/>
              </a:rPr>
              <a:t>It acts as the bridge allowing Python to read and extract data from .xlsx files, preserving cell formats and data integrity.</a:t>
            </a:r>
          </a:p>
          <a:p>
            <a:pPr marL="0" indent="0" algn="just">
              <a:buNone/>
            </a:pPr>
            <a:endParaRPr lang="en-IN"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Datetime Module</a:t>
            </a:r>
            <a:r>
              <a:rPr lang="en-IN"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Manages temporal logic. </a:t>
            </a:r>
          </a:p>
          <a:p>
            <a:pPr marL="0" indent="0" algn="just">
              <a:buNone/>
            </a:pPr>
            <a:r>
              <a:rPr lang="en-US" sz="1600" dirty="0">
                <a:latin typeface="Times New Roman" panose="02020603050405020304" pitchFamily="18" charset="0"/>
                <a:cs typeface="Times New Roman" panose="02020603050405020304" pitchFamily="18" charset="0"/>
              </a:rPr>
              <a:t>It handles all time-based calculations, such as determining "T-minus" count-downs and synchronizing data across different files.</a:t>
            </a:r>
          </a:p>
          <a:p>
            <a:pPr marL="0" indent="0" algn="just">
              <a:buNone/>
            </a:pPr>
            <a:endParaRPr lang="en-IN"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Regex (re)</a:t>
            </a:r>
            <a:r>
              <a:rPr lang="en-IN"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Ensures data consistency.</a:t>
            </a:r>
          </a:p>
          <a:p>
            <a:pPr marL="0" indent="0" algn="just">
              <a:buNone/>
            </a:pPr>
            <a:r>
              <a:rPr lang="en-US" sz="1600" dirty="0">
                <a:latin typeface="Times New Roman" panose="02020603050405020304" pitchFamily="18" charset="0"/>
                <a:cs typeface="Times New Roman" panose="02020603050405020304" pitchFamily="18" charset="0"/>
              </a:rPr>
              <a:t> It uses pattern matching to "normalize" column names (e.g., removing spaces or special characters), ensuring the code finds the right data regardless of small formatting differences in the input files.</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BAF11C9-64E5-89A2-92C2-718797E605DB}"/>
              </a:ext>
            </a:extLst>
          </p:cNvPr>
          <p:cNvSpPr txBox="1"/>
          <p:nvPr/>
        </p:nvSpPr>
        <p:spPr>
          <a:xfrm>
            <a:off x="704236" y="1745081"/>
            <a:ext cx="4821493" cy="4770537"/>
          </a:xfrm>
          <a:prstGeom prst="rect">
            <a:avLst/>
          </a:prstGeom>
          <a:noFill/>
        </p:spPr>
        <p:txBody>
          <a:bodyPr wrap="square">
            <a:spAutoFit/>
          </a:bodyPr>
          <a:lstStyle/>
          <a:p>
            <a:pPr algn="just"/>
            <a:r>
              <a:rPr lang="en-US" sz="1600" b="1" dirty="0">
                <a:latin typeface="Times New Roman" panose="02020603050405020304" pitchFamily="18" charset="0"/>
                <a:cs typeface="Times New Roman" panose="02020603050405020304" pitchFamily="18" charset="0"/>
              </a:rPr>
              <a:t>Pandas: </a:t>
            </a:r>
            <a:r>
              <a:rPr lang="en-US" sz="1600" dirty="0">
                <a:latin typeface="Times New Roman" panose="02020603050405020304" pitchFamily="18" charset="0"/>
                <a:cs typeface="Times New Roman" panose="02020603050405020304" pitchFamily="18" charset="0"/>
              </a:rPr>
              <a:t>The backbone of data processing.                       </a:t>
            </a:r>
          </a:p>
          <a:p>
            <a:pPr algn="just"/>
            <a:r>
              <a:rPr lang="en-US" sz="1600" dirty="0">
                <a:latin typeface="Times New Roman" panose="02020603050405020304" pitchFamily="18" charset="0"/>
                <a:cs typeface="Times New Roman" panose="02020603050405020304" pitchFamily="18" charset="0"/>
              </a:rPr>
              <a:t>It reads the raw Excel files, cleans the data, and filters the specific time windows (e.g., T-20 to T+10 min) needed for the report.</a:t>
            </a:r>
          </a:p>
          <a:p>
            <a:pPr algn="just"/>
            <a:endParaRPr lang="en-IN"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NumPy / Math</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Handles numerical operations and mathematical calculations.                                                </a:t>
            </a:r>
          </a:p>
          <a:p>
            <a:pPr algn="just"/>
            <a:r>
              <a:rPr lang="en-US" sz="1600" dirty="0">
                <a:latin typeface="Times New Roman" panose="02020603050405020304" pitchFamily="18" charset="0"/>
                <a:cs typeface="Times New Roman" panose="02020603050405020304" pitchFamily="18" charset="0"/>
              </a:rPr>
              <a:t>It ensures accurate computation of pressure values and conversion of sensor data types.</a:t>
            </a:r>
          </a:p>
          <a:p>
            <a:pPr algn="just"/>
            <a:endParaRPr lang="en-IN"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Matplotlib</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plotting engine.                                       </a:t>
            </a:r>
          </a:p>
          <a:p>
            <a:pPr algn="just"/>
            <a:r>
              <a:rPr lang="en-US" sz="1600" dirty="0">
                <a:latin typeface="Times New Roman" panose="02020603050405020304" pitchFamily="18" charset="0"/>
                <a:cs typeface="Times New Roman" panose="02020603050405020304" pitchFamily="18" charset="0"/>
              </a:rPr>
              <a:t>It generates the high-resolution </a:t>
            </a:r>
            <a:r>
              <a:rPr lang="en-US" sz="1600" b="1" dirty="0">
                <a:latin typeface="Times New Roman" panose="02020603050405020304" pitchFamily="18" charset="0"/>
                <a:cs typeface="Times New Roman" panose="02020603050405020304" pitchFamily="18" charset="0"/>
              </a:rPr>
              <a:t>Pressure vs. Time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Boom Angle vs. Time</a:t>
            </a:r>
            <a:r>
              <a:rPr lang="en-US" sz="1600" dirty="0">
                <a:latin typeface="Times New Roman" panose="02020603050405020304" pitchFamily="18" charset="0"/>
                <a:cs typeface="Times New Roman" panose="02020603050405020304" pitchFamily="18" charset="0"/>
              </a:rPr>
              <a:t> graphs, customizing axis labels, legends, and gridlines.</a:t>
            </a:r>
          </a:p>
          <a:p>
            <a:pPr algn="just"/>
            <a:endParaRPr lang="en-IN" sz="1600" dirty="0">
              <a:latin typeface="Times New Roman" panose="02020603050405020304" pitchFamily="18" charset="0"/>
              <a:cs typeface="Times New Roman" panose="02020603050405020304" pitchFamily="18" charset="0"/>
            </a:endParaRPr>
          </a:p>
          <a:p>
            <a:pPr algn="just"/>
            <a:r>
              <a:rPr lang="en-US" sz="1600" b="1" dirty="0" err="1">
                <a:latin typeface="Times New Roman" panose="02020603050405020304" pitchFamily="18" charset="0"/>
                <a:cs typeface="Times New Roman" panose="02020603050405020304" pitchFamily="18" charset="0"/>
              </a:rPr>
              <a:t>Tkinter</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Provides the Graphical User Interface (GUI).   </a:t>
            </a:r>
          </a:p>
          <a:p>
            <a:pPr algn="just"/>
            <a:r>
              <a:rPr lang="en-US" sz="1600" dirty="0">
                <a:latin typeface="Times New Roman" panose="02020603050405020304" pitchFamily="18" charset="0"/>
                <a:cs typeface="Times New Roman" panose="02020603050405020304" pitchFamily="18" charset="0"/>
              </a:rPr>
              <a:t>It creates the application window, buttons, and file upload dialogs, making the tool user-friendly for operators.</a:t>
            </a:r>
            <a:endParaRPr lang="en-IN"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7EC42DE-03C3-D1D9-B632-AAB0359D5914}"/>
              </a:ext>
            </a:extLst>
          </p:cNvPr>
          <p:cNvPicPr>
            <a:picLocks noChangeAspect="1"/>
          </p:cNvPicPr>
          <p:nvPr/>
        </p:nvPicPr>
        <p:blipFill>
          <a:blip r:embed="rId2"/>
          <a:stretch>
            <a:fillRect/>
          </a:stretch>
        </p:blipFill>
        <p:spPr bwMode="auto">
          <a:xfrm>
            <a:off x="303059" y="365125"/>
            <a:ext cx="1070281" cy="1064311"/>
          </a:xfrm>
          <a:prstGeom prst="rect">
            <a:avLst/>
          </a:prstGeom>
        </p:spPr>
      </p:pic>
      <p:pic>
        <p:nvPicPr>
          <p:cNvPr id="4100" name="Picture 4" descr="Python (programming language) - Wikipedia">
            <a:extLst>
              <a:ext uri="{FF2B5EF4-FFF2-40B4-BE49-F238E27FC236}">
                <a16:creationId xmlns:a16="http://schemas.microsoft.com/office/drawing/2014/main" id="{B9E13B73-E9C4-A9B2-26F2-FBBB5BA94E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1495" y="3501338"/>
            <a:ext cx="629011" cy="629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24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49748-02F5-5294-43EA-DB81F40B3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83065-BAC7-EBBA-09BE-8F5FB9DD62BA}"/>
              </a:ext>
            </a:extLst>
          </p:cNvPr>
          <p:cNvSpPr>
            <a:spLocks noGrp="1"/>
          </p:cNvSpPr>
          <p:nvPr>
            <p:ph type="title"/>
          </p:nvPr>
        </p:nvSpPr>
        <p:spPr/>
        <p:txBody>
          <a:bodyPr>
            <a:normAutofit/>
          </a:bodyPr>
          <a:lstStyle/>
          <a:p>
            <a:pPr algn="ctr"/>
            <a:r>
              <a:rPr lang="en-US" sz="3200" b="1" dirty="0">
                <a:latin typeface="Times New Roman" panose="02020603050405020304" pitchFamily="18" charset="0"/>
                <a:cs typeface="Times New Roman" panose="02020603050405020304" pitchFamily="18" charset="0"/>
              </a:rPr>
              <a:t>IMPACT &amp; BENEFITS</a:t>
            </a:r>
          </a:p>
        </p:txBody>
      </p:sp>
      <p:sp>
        <p:nvSpPr>
          <p:cNvPr id="3" name="Content Placeholder 2">
            <a:extLst>
              <a:ext uri="{FF2B5EF4-FFF2-40B4-BE49-F238E27FC236}">
                <a16:creationId xmlns:a16="http://schemas.microsoft.com/office/drawing/2014/main" id="{0323AE52-01E7-4A74-9FD4-32856D5D701C}"/>
              </a:ext>
            </a:extLst>
          </p:cNvPr>
          <p:cNvSpPr>
            <a:spLocks noGrp="1"/>
          </p:cNvSpPr>
          <p:nvPr>
            <p:ph idx="1"/>
          </p:nvPr>
        </p:nvSpPr>
        <p:spPr>
          <a:xfrm>
            <a:off x="1691148" y="2056222"/>
            <a:ext cx="9167352" cy="3695650"/>
          </a:xfrm>
        </p:spPr>
        <p:txBody>
          <a:bodyPr>
            <a:noAutofit/>
          </a:bodyPr>
          <a:lstStyle/>
          <a:p>
            <a:pPr marL="457200" indent="-457200">
              <a:buFont typeface="+mj-lt"/>
              <a:buAutoNum type="arabicParenR"/>
            </a:pPr>
            <a:r>
              <a:rPr lang="en-US" sz="2000" b="1" dirty="0">
                <a:latin typeface="Times New Roman" panose="02020603050405020304" pitchFamily="18" charset="0"/>
                <a:cs typeface="Times New Roman" panose="02020603050405020304" pitchFamily="18" charset="0"/>
              </a:rPr>
              <a:t>Instant Reporting:</a:t>
            </a:r>
            <a:r>
              <a:rPr lang="en-US" sz="2000" dirty="0">
                <a:latin typeface="Times New Roman" panose="02020603050405020304" pitchFamily="18" charset="0"/>
                <a:cs typeface="Times New Roman" panose="02020603050405020304" pitchFamily="18" charset="0"/>
              </a:rPr>
              <a:t> Generates an industry-standard </a:t>
            </a:r>
            <a:r>
              <a:rPr lang="en-US" sz="2000" b="1" dirty="0">
                <a:latin typeface="Times New Roman" panose="02020603050405020304" pitchFamily="18" charset="0"/>
                <a:cs typeface="Times New Roman" panose="02020603050405020304" pitchFamily="18" charset="0"/>
              </a:rPr>
              <a:t>PDF report</a:t>
            </a:r>
            <a:r>
              <a:rPr lang="en-US" sz="2000" dirty="0">
                <a:latin typeface="Times New Roman" panose="02020603050405020304" pitchFamily="18" charset="0"/>
                <a:cs typeface="Times New Roman" panose="02020603050405020304" pitchFamily="18" charset="0"/>
              </a:rPr>
              <a:t> automatically using </a:t>
            </a:r>
            <a:r>
              <a:rPr lang="en-US" sz="2000" b="1" dirty="0" err="1">
                <a:latin typeface="Times New Roman" panose="02020603050405020304" pitchFamily="18" charset="0"/>
                <a:cs typeface="Times New Roman" panose="02020603050405020304" pitchFamily="18" charset="0"/>
              </a:rPr>
              <a:t>ReportLab</a:t>
            </a:r>
            <a:r>
              <a:rPr lang="en-US" sz="2000" dirty="0">
                <a:latin typeface="Times New Roman" panose="02020603050405020304" pitchFamily="18" charset="0"/>
                <a:cs typeface="Times New Roman" panose="02020603050405020304" pitchFamily="18" charset="0"/>
              </a:rPr>
              <a:t>.</a:t>
            </a:r>
          </a:p>
          <a:p>
            <a:pPr marL="457200" indent="-457200">
              <a:buFont typeface="+mj-lt"/>
              <a:buAutoNum type="arabicParenR"/>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arenR"/>
            </a:pPr>
            <a:r>
              <a:rPr lang="en-US" sz="2000" b="1" dirty="0">
                <a:latin typeface="Times New Roman" panose="02020603050405020304" pitchFamily="18" charset="0"/>
                <a:cs typeface="Times New Roman" panose="02020603050405020304" pitchFamily="18" charset="0"/>
              </a:rPr>
              <a:t>Efficiency Boost:</a:t>
            </a:r>
            <a:r>
              <a:rPr lang="en-US" sz="2000" dirty="0">
                <a:latin typeface="Times New Roman" panose="02020603050405020304" pitchFamily="18" charset="0"/>
                <a:cs typeface="Times New Roman" panose="02020603050405020304" pitchFamily="18" charset="0"/>
              </a:rPr>
              <a:t> Reduces analysis turnaround time from </a:t>
            </a:r>
            <a:r>
              <a:rPr lang="en-US" sz="2000" b="1" dirty="0">
                <a:latin typeface="Times New Roman" panose="02020603050405020304" pitchFamily="18" charset="0"/>
                <a:cs typeface="Times New Roman" panose="02020603050405020304" pitchFamily="18" charset="0"/>
              </a:rPr>
              <a:t>hours to seconds</a:t>
            </a:r>
            <a:r>
              <a:rPr lang="en-US" sz="2000" dirty="0">
                <a:latin typeface="Times New Roman" panose="02020603050405020304" pitchFamily="18" charset="0"/>
                <a:cs typeface="Times New Roman" panose="02020603050405020304" pitchFamily="18" charset="0"/>
              </a:rPr>
              <a:t>.</a:t>
            </a:r>
          </a:p>
          <a:p>
            <a:pPr marL="457200" indent="-457200">
              <a:buFont typeface="+mj-lt"/>
              <a:buAutoNum type="arabicParenR"/>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arenR"/>
            </a:pPr>
            <a:r>
              <a:rPr lang="en-US" sz="2000" b="1" dirty="0">
                <a:latin typeface="Times New Roman" panose="02020603050405020304" pitchFamily="18" charset="0"/>
                <a:cs typeface="Times New Roman" panose="02020603050405020304" pitchFamily="18" charset="0"/>
              </a:rPr>
              <a:t>Error Elimination:</a:t>
            </a:r>
            <a:r>
              <a:rPr lang="en-US" sz="2000" dirty="0">
                <a:latin typeface="Times New Roman" panose="02020603050405020304" pitchFamily="18" charset="0"/>
                <a:cs typeface="Times New Roman" panose="02020603050405020304" pitchFamily="18" charset="0"/>
              </a:rPr>
              <a:t> Removes the risk of human transcription errors in data logging.</a:t>
            </a:r>
          </a:p>
          <a:p>
            <a:pPr marL="457200" indent="-457200">
              <a:buFont typeface="+mj-lt"/>
              <a:buAutoNum type="arabicParenR"/>
            </a:pP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arenR"/>
            </a:pPr>
            <a:r>
              <a:rPr lang="en-US" sz="2000" b="1" dirty="0">
                <a:latin typeface="Times New Roman" panose="02020603050405020304" pitchFamily="18" charset="0"/>
                <a:cs typeface="Times New Roman" panose="02020603050405020304" pitchFamily="18" charset="0"/>
              </a:rPr>
              <a:t>Digital Transformation:</a:t>
            </a:r>
            <a:r>
              <a:rPr lang="en-US" sz="2000" dirty="0">
                <a:latin typeface="Times New Roman" panose="02020603050405020304" pitchFamily="18" charset="0"/>
                <a:cs typeface="Times New Roman" panose="02020603050405020304" pitchFamily="18" charset="0"/>
              </a:rPr>
              <a:t> Represents a significant leap in the digitalization of </a:t>
            </a:r>
            <a:r>
              <a:rPr lang="en-US" sz="2000" b="1" dirty="0">
                <a:latin typeface="Times New Roman" panose="02020603050405020304" pitchFamily="18" charset="0"/>
                <a:cs typeface="Times New Roman" panose="02020603050405020304" pitchFamily="18" charset="0"/>
              </a:rPr>
              <a:t>Ground Support Equipment (GSE)</a:t>
            </a:r>
            <a:r>
              <a:rPr lang="en-US" sz="2000" dirty="0">
                <a:latin typeface="Times New Roman" panose="02020603050405020304" pitchFamily="18" charset="0"/>
                <a:cs typeface="Times New Roman" panose="02020603050405020304" pitchFamily="18" charset="0"/>
              </a:rPr>
              <a:t> analysis.</a:t>
            </a:r>
          </a:p>
        </p:txBody>
      </p:sp>
      <p:pic>
        <p:nvPicPr>
          <p:cNvPr id="4" name="Picture 3">
            <a:extLst>
              <a:ext uri="{FF2B5EF4-FFF2-40B4-BE49-F238E27FC236}">
                <a16:creationId xmlns:a16="http://schemas.microsoft.com/office/drawing/2014/main" id="{0A52CEE1-822F-C8E5-71F4-EC7B36C9590D}"/>
              </a:ext>
            </a:extLst>
          </p:cNvPr>
          <p:cNvPicPr>
            <a:picLocks noChangeAspect="1"/>
          </p:cNvPicPr>
          <p:nvPr/>
        </p:nvPicPr>
        <p:blipFill>
          <a:blip r:embed="rId2"/>
          <a:stretch>
            <a:fillRect/>
          </a:stretch>
        </p:blipFill>
        <p:spPr bwMode="auto">
          <a:xfrm>
            <a:off x="303059" y="365125"/>
            <a:ext cx="1070281" cy="1064311"/>
          </a:xfrm>
          <a:prstGeom prst="rect">
            <a:avLst/>
          </a:prstGeom>
        </p:spPr>
      </p:pic>
    </p:spTree>
    <p:extLst>
      <p:ext uri="{BB962C8B-B14F-4D97-AF65-F5344CB8AC3E}">
        <p14:creationId xmlns:p14="http://schemas.microsoft.com/office/powerpoint/2010/main" val="1215853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E7AF5-DC91-930A-644B-3D6FD3A885A0}"/>
              </a:ext>
            </a:extLst>
          </p:cNvPr>
          <p:cNvSpPr>
            <a:spLocks noGrp="1"/>
          </p:cNvSpPr>
          <p:nvPr>
            <p:ph type="title"/>
          </p:nvPr>
        </p:nvSpPr>
        <p:spPr>
          <a:xfrm>
            <a:off x="4140610" y="3005432"/>
            <a:ext cx="3910780" cy="847135"/>
          </a:xfrm>
        </p:spPr>
        <p:txBody>
          <a:bodyPr>
            <a:normAutofit/>
          </a:bodyPr>
          <a:lstStyle/>
          <a:p>
            <a:r>
              <a:rPr lang="en-IN" sz="4800" b="1" dirty="0">
                <a:latin typeface="Times New Roman" panose="02020603050405020304" pitchFamily="18" charset="0"/>
                <a:cs typeface="Times New Roman" panose="02020603050405020304" pitchFamily="18" charset="0"/>
              </a:rPr>
              <a:t>THANK YOU</a:t>
            </a:r>
          </a:p>
        </p:txBody>
      </p:sp>
      <p:pic>
        <p:nvPicPr>
          <p:cNvPr id="4" name="Picture 3">
            <a:extLst>
              <a:ext uri="{FF2B5EF4-FFF2-40B4-BE49-F238E27FC236}">
                <a16:creationId xmlns:a16="http://schemas.microsoft.com/office/drawing/2014/main" id="{FE871CC0-A23A-92E7-0F9E-BDFB7A0FD576}"/>
              </a:ext>
            </a:extLst>
          </p:cNvPr>
          <p:cNvPicPr>
            <a:picLocks noChangeAspect="1"/>
          </p:cNvPicPr>
          <p:nvPr/>
        </p:nvPicPr>
        <p:blipFill>
          <a:blip r:embed="rId2"/>
          <a:stretch>
            <a:fillRect/>
          </a:stretch>
        </p:blipFill>
        <p:spPr bwMode="auto">
          <a:xfrm>
            <a:off x="455100" y="334397"/>
            <a:ext cx="1351217" cy="1343680"/>
          </a:xfrm>
          <a:prstGeom prst="rect">
            <a:avLst/>
          </a:prstGeom>
        </p:spPr>
      </p:pic>
    </p:spTree>
    <p:extLst>
      <p:ext uri="{BB962C8B-B14F-4D97-AF65-F5344CB8AC3E}">
        <p14:creationId xmlns:p14="http://schemas.microsoft.com/office/powerpoint/2010/main" val="2402020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59194-0B43-61E1-50F8-72B15F4829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1BCA6C-9A5E-9EDF-76BF-A05EB8D3621C}"/>
              </a:ext>
            </a:extLst>
          </p:cNvPr>
          <p:cNvSpPr>
            <a:spLocks noGrp="1"/>
          </p:cNvSpPr>
          <p:nvPr>
            <p:ph idx="1"/>
          </p:nvPr>
        </p:nvSpPr>
        <p:spPr/>
        <p:txBody>
          <a:bodyPr>
            <a:normAutofit fontScale="92500" lnSpcReduction="10000"/>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The </a:t>
            </a:r>
            <a:r>
              <a:rPr lang="en-US" sz="1800" dirty="0" err="1">
                <a:latin typeface="Times New Roman" panose="02020603050405020304" pitchFamily="18" charset="0"/>
                <a:cs typeface="Times New Roman" panose="02020603050405020304" pitchFamily="18" charset="0"/>
              </a:rPr>
              <a:t>Cryo</a:t>
            </a:r>
            <a:r>
              <a:rPr lang="en-US" sz="1800" dirty="0">
                <a:latin typeface="Times New Roman" panose="02020603050405020304" pitchFamily="18" charset="0"/>
                <a:cs typeface="Times New Roman" panose="02020603050405020304" pitchFamily="18" charset="0"/>
              </a:rPr>
              <a:t> Control System serves as a critical component in the launch infrastructure, managing the supply and control of Liquid Oxygen (LOX) and Liquid Hydrogen (LH2) to the launch vehicle. The analysis of the Intelligent Control System (ICS) performance, particularly the Accumulator Charging Systems and the </a:t>
            </a:r>
            <a:r>
              <a:rPr lang="en-US" sz="1800" dirty="0" err="1">
                <a:latin typeface="Times New Roman" panose="02020603050405020304" pitchFamily="18" charset="0"/>
                <a:cs typeface="Times New Roman" panose="02020603050405020304" pitchFamily="18" charset="0"/>
              </a:rPr>
              <a:t>Cryo</a:t>
            </a:r>
            <a:r>
              <a:rPr lang="en-US" sz="1800" dirty="0">
                <a:latin typeface="Times New Roman" panose="02020603050405020304" pitchFamily="18" charset="0"/>
                <a:cs typeface="Times New Roman" panose="02020603050405020304" pitchFamily="18" charset="0"/>
              </a:rPr>
              <a:t> Arm Retraction dynamics, is essential for validating mission success and safety.</a:t>
            </a:r>
          </a:p>
          <a:p>
            <a:pPr marL="0" indent="0">
              <a:lnSpc>
                <a:spcPct val="150000"/>
              </a:lnSpc>
              <a:buNone/>
            </a:pPr>
            <a:r>
              <a:rPr lang="en-US" sz="1800" dirty="0">
                <a:latin typeface="Times New Roman" panose="02020603050405020304" pitchFamily="18" charset="0"/>
                <a:cs typeface="Times New Roman" panose="02020603050405020304" pitchFamily="18" charset="0"/>
              </a:rPr>
              <a:t>This project introduces a Python-based Automation Suite designed to streamline the post-mission analysis of these systems. By leveraging libraries such as Pandas for data manipulation and Matplotlib for visualization, the tool processes high-frequency telemetry data from Excel logs. It implements complex logic to map PLC timestamps to real-world events, analyzes accumulator charging cycles, and visualizes boom retraction trajectories.</a:t>
            </a:r>
          </a:p>
          <a:p>
            <a:pPr marL="0" indent="0">
              <a:lnSpc>
                <a:spcPct val="150000"/>
              </a:lnSpc>
              <a:buNone/>
            </a:pPr>
            <a:r>
              <a:rPr lang="en-US" sz="1800" dirty="0">
                <a:latin typeface="Times New Roman" panose="02020603050405020304" pitchFamily="18" charset="0"/>
                <a:cs typeface="Times New Roman" panose="02020603050405020304" pitchFamily="18" charset="0"/>
              </a:rPr>
              <a:t>The final output is an auto-generated, industry-standard PDF report created via </a:t>
            </a:r>
            <a:r>
              <a:rPr lang="en-US" sz="1800" dirty="0" err="1">
                <a:latin typeface="Times New Roman" panose="02020603050405020304" pitchFamily="18" charset="0"/>
                <a:cs typeface="Times New Roman" panose="02020603050405020304" pitchFamily="18" charset="0"/>
              </a:rPr>
              <a:t>ReportLab</a:t>
            </a:r>
            <a:r>
              <a:rPr lang="en-US" sz="1800" dirty="0">
                <a:latin typeface="Times New Roman" panose="02020603050405020304" pitchFamily="18" charset="0"/>
                <a:cs typeface="Times New Roman" panose="02020603050405020304" pitchFamily="18" charset="0"/>
              </a:rPr>
              <a:t>, reducing the analysis turnaround time from hours to mere seconds while eliminating human transcription errors. This tool represents a significant step forward in the digitalization and automation of Ground Support Equipment (GSE) data analysis.</a:t>
            </a:r>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86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TotalTime>
  <Words>1943</Words>
  <Application>Microsoft Office PowerPoint</Application>
  <PresentationFormat>Widescreen</PresentationFormat>
  <Paragraphs>206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Google Sans Text</vt:lpstr>
      <vt:lpstr>Times New Roman</vt:lpstr>
      <vt:lpstr>Trebuchet MS</vt:lpstr>
      <vt:lpstr>Office Theme</vt:lpstr>
      <vt:lpstr>SATISH DHAWAN SPACE CENTRE (SDSC) INDIAN SPACE RESEARCH ORGANIZATION (ISRO) </vt:lpstr>
      <vt:lpstr>INTRODUCTION</vt:lpstr>
      <vt:lpstr>DATASETS</vt:lpstr>
      <vt:lpstr>SYSTEM ARCHITECTURE DIAGRAM      </vt:lpstr>
      <vt:lpstr>INPUT AND DATA PREPROCESSING STAGE</vt:lpstr>
      <vt:lpstr>TABLE 1: ACCUMULATOR CHARGING</vt:lpstr>
      <vt:lpstr>TABLE 2: ACCUMULATOR CHARGING TIMINGS</vt:lpstr>
      <vt:lpstr>TABLE 3: CRYO ARM DATA AFTER RETRACTION</vt:lpstr>
      <vt:lpstr>PRESSURE GRAPHS (LOX &amp; LH2)</vt:lpstr>
      <vt:lpstr>BOOM ANGLE GRAPH</vt:lpstr>
      <vt:lpstr>GSLV REPORT</vt:lpstr>
      <vt:lpstr>LVM3 OUTPUT</vt:lpstr>
      <vt:lpstr>TECHNOLOGIES USED</vt:lpstr>
      <vt:lpstr>IMPACT &amp; BENEFITS</vt:lpstr>
      <vt:lpstr>THANK YOU</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Dhiya Chandrasekar</dc:creator>
  <cp:lastModifiedBy>Dhiya Chandrasekar</cp:lastModifiedBy>
  <cp:revision>8</cp:revision>
  <dcterms:created xsi:type="dcterms:W3CDTF">2026-02-12T13:59:53Z</dcterms:created>
  <dcterms:modified xsi:type="dcterms:W3CDTF">2026-02-12T17:22:09Z</dcterms:modified>
</cp:coreProperties>
</file>